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respected supervisor Shaik Sana Begum and evaluators. I am Gudla Shashank, Reg. No. 12316224 from B.Tech CSE, section K23DF. Today, I am proud to present my Academic Task 2 project for CSE494 Intelligent NoSQL Databases: 'Skill Gap Analyzer &amp; Career Intelligence Platform'. This project showcases high-performance MongoDB document data modeling, multikey indexing, multi-stage aggregation pipelines, and Retrieval-Augmented Generation (RAG) powered by Google Gemini.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executive summary, we outline why this platform was created. Traditional career platforms fail because they treat candidate competencies as static database columns. Our platform addresses this by leveraging MongoDB 7.0 as an intelligent document and vector store. We achieved 7 functional collections, sub-10ms response times with multikey indexing, and an integrated RAG copilot that turns skill gaps into concrete engineering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academic and technical problem. In a relational database, storing skills for candidates requires a junction table candidate_skills. Every time you want to inspect a candidate's profile and projects, you must execute multiple joins. Our project objectives for CSE494 directly solve this using MongoDB's document model, atomic array operations, and multi-stage aggregation pipelines.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frequently ask during viva: 'Why did you choose MongoDB over SQL for this project?' This slide gives the definitive answer. In SQL, modeling an array of skills requires an associative entity with foreign keys, leading to query complexity. In MongoDB, skills are stored as native BSON arrays. Furthermore, projects are embedded directly as subdocuments, and vector embeddings are stored inside documents, avoiding the complexity of managing a separate vector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system architecture diagram. The architecture is divided into four clean tiers: 1. Streamlit Presentation tier, 2. PyMongo application tier with URI sanitization and connection pooling, 3. MongoDB Database tier with 7 collections, and 4. The AI intelligence tier combining TF-IDF and Gemini RAG. The bottom workflow illustrates the continuous pipeline from resume ingestion to grounded AI synthesis.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7 collections in MongoDB. Notice how each collection serves a specific role. Explain to the examiner that we made very conscious data modeling choices: we embedded project arrays inside resumes because projects are bounded and accessed with resumes, while referencing users and jobs from analyses to maintain 16MB document safety and avoid data redundancy.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actual BSON document structure. Highlight to the examiner that we implemented established MongoDB design patterns: The Attribute Pattern for skill arrays, the Subset Pattern for projects inside resumes, and the Event Sourcing Pattern for analysis evaluation logs. This adheres directly to MongoDB official data modeling best practices.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Examiners always test candidate understanding of array operations. Point out $addToSet: if a user clicks 'Add Skill: Docker', $addToSet checks if 'Docker' exists in the array; if already present, it makes no changes, returning modified_count: 0. This guarantees mathematical set semantics at the database engine level without needing application loops. Similarly, $pull removes items atomically in one database trip.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 optimization is a critical topic in CSE494. Here we show our indexing strategy, specifically highlighting Multikey Indexes on array fields. When explaining query execution stats: an unindexed query triggers a COLLSCAN, examining all documents in O(N) time. With our unique and multikey indexes, MongoDB traverses an efficient B-Tree index structure via IXSCAN, examining exactly 1 document in logarithmic time, completing in under 1 millisecond.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five aggregation pipelines implemented in database/aggregations.py. Emphasize to the professor that these pipelines execute in native C++ inside the MongoDB engine. Instead of fetching 10,000 resume documents over the network and running slow Python for-loops, MongoDB's aggregation framework calculates talent supply and demand in-place, returning only the summary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Examiners love to ask about $lookup: 'Can MongoDB perform joins like SQL?' The answer is YES, via the $lookup aggregation stage. In our project, analyses stores evaluations, but doesn't store the full job title or company name. Our $lookup stage joins with the jobs collection on job_id, unwinds the array, and aggregates the average candidate performance per job posting without having to duplicate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AI architecture. RAG stands for Retrieval-Augmented Generation. Normally, LLMs like Gemini hallucinate generic advice. In our system, we store verified curriculum modules and project patterns in MongoDB's knowledge_vectors collection. When a gap is identified (e.g. Docker and AWS), we retrieve the top matching curriculum chunks using cosine similarity, inject them into Gemini's prompt, and Gemini generates a mathematically grounded 3-week study roadmap and project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reviews the four core interactive modules in our Streamlit web application. Module 1 parses resumes and calculates gap scores. Module 2 is our Gemini-powered AI Career Copilot. Module 3 displays live analytics powered by our aggregation pipelines. And Module 4 is our interactive Data Engine Lab, where professors can inspect live MongoDB documents, test CRUD operations, and view explain() execution plans right from the UI.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empirical results and verification matrix. We tested all five aggregation pipelines and CRUD operations. Top demand is Docker and Python; top skill gap is Docker with a deficit of 2 engineers. We verified that $addToSet prevents duplicates, and unique indexes throw DuplicateKeyError E11000 on collisions. Latency across indexed operations was measured under 2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strong engineering project addresses real technical challenges. During development, we faced array duplication which we solved with $addToSet, Atlas URI connection parsing issues which we solved with RFC 3986 percent encoding, network timeout resilience which we solved with connection pooling and offline fallback, and aggregation memory limits which we solved by projecting fields early in pipeline stages.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there are several exciting scalability paths: First, moving to native MongoDB Atlas Vector Search with HNSW indexing for million-vector scaling. Second, using MongoDB Change Streams for real-time socket alerts when jobs match a user. Third, multimodal OCR parsing for scanned resumes. And fourth, enterprise multi-tenancy for university placement cells.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Skill Gap Analyzer and Career Intelligence Platform fully satisfies and exceeds the requirements for CSE494 Intelligent NoSQL Databases. It proves that MongoDB combined with modern Generative AI solves a genuine real-world problem with exceptional speed, natural document modeling, and zero schema migration friction.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supervisor and evaluators for your time and guidance. I am now ready for questions, live code walkthrough, and practical evaluation of the MongoDB database and Streamlit application.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728655" cy="640080"/>
          </a:xfrm>
          <a:prstGeom prst="rect">
            <a:avLst/>
          </a:prstGeom>
          <a:noFill/>
        </p:spPr>
        <p:txBody>
          <a:bodyPr wrap="none">
            <a:spAutoFit/>
          </a:bodyPr>
          <a:lstStyle/>
          <a:p>
            <a:pPr>
              <a:defRPr sz="1100" b="1">
                <a:solidFill>
                  <a:srgbClr val="FB923C"/>
                </a:solidFill>
                <a:latin typeface="Segoe UI"/>
              </a:defRPr>
            </a:pPr>
            <a:r>
              <a:t>LOVELY PROFESSIONAL UNIVERSITY  •  SCHOOL OF COMPUTER SCIENCE &amp; ENGINEERING</a:t>
            </a:r>
          </a:p>
          <a:p>
            <a:pPr>
              <a:defRPr sz="1000">
                <a:solidFill>
                  <a:srgbClr val="94A3B8"/>
                </a:solidFill>
                <a:latin typeface="Segoe UI"/>
              </a:defRPr>
            </a:pPr>
            <a:r>
              <a:t>INTELLIGENT NOSQL DATABASES (CSE494) — ACADEMIC TASK 2 PRESENTATION</a:t>
            </a:r>
          </a:p>
        </p:txBody>
      </p:sp>
      <p:sp>
        <p:nvSpPr>
          <p:cNvPr id="5" name="TextBox 4"/>
          <p:cNvSpPr txBox="1"/>
          <p:nvPr/>
        </p:nvSpPr>
        <p:spPr>
          <a:xfrm>
            <a:off x="731520" y="1645920"/>
            <a:ext cx="10728655" cy="1371600"/>
          </a:xfrm>
          <a:prstGeom prst="rect">
            <a:avLst/>
          </a:prstGeom>
          <a:noFill/>
        </p:spPr>
        <p:txBody>
          <a:bodyPr wrap="square">
            <a:spAutoFit/>
          </a:bodyPr>
          <a:lstStyle/>
          <a:p>
            <a:pPr>
              <a:defRPr sz="3200" b="1">
                <a:solidFill>
                  <a:srgbClr val="FFFFFF"/>
                </a:solidFill>
                <a:latin typeface="Segoe UI"/>
              </a:defRPr>
            </a:pPr>
            <a:r>
              <a:t>Skill Gap Analyzer &amp; Career Intelligence Platform</a:t>
            </a:r>
          </a:p>
          <a:p>
            <a:pPr>
              <a:defRPr sz="1600">
                <a:solidFill>
                  <a:srgbClr val="38BDF8"/>
                </a:solidFill>
                <a:latin typeface="Segoe UI"/>
              </a:defRPr>
            </a:pPr>
            <a:r>
              <a:t>A RAG-Driven Enterprise Competency Benchmarking System with MongoDB &amp; Google Gemini</a:t>
            </a:r>
          </a:p>
        </p:txBody>
      </p:sp>
      <p:sp>
        <p:nvSpPr>
          <p:cNvPr id="6" name="Rounded Rectangle 5"/>
          <p:cNvSpPr/>
          <p:nvPr/>
        </p:nvSpPr>
        <p:spPr>
          <a:xfrm>
            <a:off x="731520" y="3291840"/>
            <a:ext cx="3474720" cy="457200"/>
          </a:xfrm>
          <a:prstGeom prst="roundRect">
            <a:avLst/>
          </a:prstGeom>
          <a:solidFill>
            <a:srgbClr val="1E293B"/>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91840"/>
            <a:ext cx="3474720" cy="457200"/>
          </a:xfrm>
          <a:prstGeom prst="rect">
            <a:avLst/>
          </a:prstGeom>
          <a:noFill/>
        </p:spPr>
        <p:txBody>
          <a:bodyPr wrap="none" tIns="91440">
            <a:spAutoFit/>
          </a:bodyPr>
          <a:lstStyle/>
          <a:p>
            <a:pPr algn="ctr">
              <a:defRPr sz="1050" b="1">
                <a:solidFill>
                  <a:srgbClr val="FFFFFF"/>
                </a:solidFill>
                <a:latin typeface="Segoe UI"/>
              </a:defRPr>
            </a:pPr>
            <a:r>
              <a:t>MongoDB Distributed Document &amp; Vector Engine</a:t>
            </a:r>
          </a:p>
        </p:txBody>
      </p:sp>
      <p:sp>
        <p:nvSpPr>
          <p:cNvPr id="8" name="Rounded Rectangle 7"/>
          <p:cNvSpPr/>
          <p:nvPr/>
        </p:nvSpPr>
        <p:spPr>
          <a:xfrm>
            <a:off x="4343400" y="3291840"/>
            <a:ext cx="3474720" cy="457200"/>
          </a:xfrm>
          <a:prstGeom prst="roundRect">
            <a:avLst/>
          </a:prstGeom>
          <a:solidFill>
            <a:srgbClr val="1E293B"/>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3291840"/>
            <a:ext cx="3474720" cy="457200"/>
          </a:xfrm>
          <a:prstGeom prst="rect">
            <a:avLst/>
          </a:prstGeom>
          <a:noFill/>
        </p:spPr>
        <p:txBody>
          <a:bodyPr wrap="none" tIns="91440">
            <a:spAutoFit/>
          </a:bodyPr>
          <a:lstStyle/>
          <a:p>
            <a:pPr algn="ctr">
              <a:defRPr sz="1050" b="1">
                <a:solidFill>
                  <a:srgbClr val="FFFFFF"/>
                </a:solidFill>
                <a:latin typeface="Segoe UI"/>
              </a:defRPr>
            </a:pPr>
            <a:r>
              <a:t>Atomic Array Modifiers ($addToSet, $pull)</a:t>
            </a:r>
          </a:p>
        </p:txBody>
      </p:sp>
      <p:sp>
        <p:nvSpPr>
          <p:cNvPr id="10" name="Rounded Rectangle 9"/>
          <p:cNvSpPr/>
          <p:nvPr/>
        </p:nvSpPr>
        <p:spPr>
          <a:xfrm>
            <a:off x="7955280" y="3291840"/>
            <a:ext cx="3474720" cy="457200"/>
          </a:xfrm>
          <a:prstGeom prst="roundRect">
            <a:avLst/>
          </a:prstGeom>
          <a:solidFill>
            <a:srgbClr val="1E293B"/>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0" y="3291840"/>
            <a:ext cx="3474720" cy="457200"/>
          </a:xfrm>
          <a:prstGeom prst="rect">
            <a:avLst/>
          </a:prstGeom>
          <a:noFill/>
        </p:spPr>
        <p:txBody>
          <a:bodyPr wrap="none" tIns="91440">
            <a:spAutoFit/>
          </a:bodyPr>
          <a:lstStyle/>
          <a:p>
            <a:pPr algn="ctr">
              <a:defRPr sz="1050" b="1">
                <a:solidFill>
                  <a:srgbClr val="FFFFFF"/>
                </a:solidFill>
                <a:latin typeface="Segoe UI"/>
              </a:defRPr>
            </a:pPr>
            <a:r>
              <a:t>Gemini RAG Synthesis &amp; Cosine Similarity</a:t>
            </a:r>
          </a:p>
        </p:txBody>
      </p:sp>
      <p:sp>
        <p:nvSpPr>
          <p:cNvPr id="12" name="Rounded Rectangle 11"/>
          <p:cNvSpPr/>
          <p:nvPr/>
        </p:nvSpPr>
        <p:spPr>
          <a:xfrm>
            <a:off x="731520" y="4114800"/>
            <a:ext cx="5212080" cy="1920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06240"/>
            <a:ext cx="4846320" cy="1737360"/>
          </a:xfrm>
          <a:prstGeom prst="rect">
            <a:avLst/>
          </a:prstGeom>
          <a:noFill/>
        </p:spPr>
        <p:txBody>
          <a:bodyPr wrap="none">
            <a:spAutoFit/>
          </a:bodyPr>
          <a:lstStyle/>
          <a:p>
            <a:pPr>
              <a:defRPr b="1" sz="1100">
                <a:solidFill>
                  <a:srgbClr val="38BDF8"/>
                </a:solidFill>
              </a:defRPr>
            </a:pPr>
            <a:r>
              <a:t>SUBMITTED BY</a:t>
            </a:r>
          </a:p>
          <a:p>
            <a:r>
              <a:rPr sz="1050" b="1">
                <a:solidFill>
                  <a:srgbClr val="94A3B8"/>
                </a:solidFill>
                <a:latin typeface="Segoe UI"/>
              </a:rPr>
              <a:t>Name: </a:t>
            </a:r>
            <a:r>
              <a:rPr sz="1050" b="1">
                <a:solidFill>
                  <a:srgbClr val="FFFFFF"/>
                </a:solidFill>
                <a:latin typeface="Segoe UI"/>
              </a:rPr>
              <a:t>Gudla Shashank</a:t>
            </a:r>
          </a:p>
          <a:p>
            <a:r>
              <a:rPr sz="1050" b="1">
                <a:solidFill>
                  <a:srgbClr val="94A3B8"/>
                </a:solidFill>
                <a:latin typeface="Segoe UI"/>
              </a:rPr>
              <a:t>Registration No.: </a:t>
            </a:r>
            <a:r>
              <a:rPr sz="1050" b="1">
                <a:solidFill>
                  <a:srgbClr val="FFFFFF"/>
                </a:solidFill>
                <a:latin typeface="Segoe UI"/>
              </a:rPr>
              <a:t>12316224</a:t>
            </a:r>
          </a:p>
          <a:p>
            <a:r>
              <a:rPr sz="1050" b="1">
                <a:solidFill>
                  <a:srgbClr val="94A3B8"/>
                </a:solidFill>
                <a:latin typeface="Segoe UI"/>
              </a:rPr>
              <a:t>Roll No. &amp; Section: </a:t>
            </a:r>
            <a:r>
              <a:rPr sz="1050" b="1">
                <a:solidFill>
                  <a:srgbClr val="FFFFFF"/>
                </a:solidFill>
                <a:latin typeface="Segoe UI"/>
              </a:rPr>
              <a:t>Roll No. 9  |  Section K23DF</a:t>
            </a:r>
          </a:p>
          <a:p>
            <a:r>
              <a:rPr sz="1050" b="1">
                <a:solidFill>
                  <a:srgbClr val="94A3B8"/>
                </a:solidFill>
                <a:latin typeface="Segoe UI"/>
              </a:rPr>
              <a:t>Degree Programme: </a:t>
            </a:r>
            <a:r>
              <a:rPr sz="1050" b="1">
                <a:solidFill>
                  <a:srgbClr val="FFFFFF"/>
                </a:solidFill>
                <a:latin typeface="Segoe UI"/>
              </a:rPr>
              <a:t>B.Tech Computer Science &amp; Engineering</a:t>
            </a:r>
          </a:p>
        </p:txBody>
      </p:sp>
      <p:sp>
        <p:nvSpPr>
          <p:cNvPr id="14" name="Rounded Rectangle 13"/>
          <p:cNvSpPr/>
          <p:nvPr/>
        </p:nvSpPr>
        <p:spPr>
          <a:xfrm>
            <a:off x="6217920" y="4114800"/>
            <a:ext cx="5212080" cy="19202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206240"/>
            <a:ext cx="4846320" cy="1737360"/>
          </a:xfrm>
          <a:prstGeom prst="rect">
            <a:avLst/>
          </a:prstGeom>
          <a:noFill/>
        </p:spPr>
        <p:txBody>
          <a:bodyPr wrap="none">
            <a:spAutoFit/>
          </a:bodyPr>
          <a:lstStyle/>
          <a:p>
            <a:pPr>
              <a:defRPr b="1" sz="1100">
                <a:solidFill>
                  <a:srgbClr val="FB923C"/>
                </a:solidFill>
              </a:defRPr>
            </a:pPr>
            <a:r>
              <a:t>UNDER THE GUIDANCE OF</a:t>
            </a:r>
          </a:p>
          <a:p>
            <a:r>
              <a:rPr sz="1050" b="1">
                <a:solidFill>
                  <a:srgbClr val="94A3B8"/>
                </a:solidFill>
                <a:latin typeface="Segoe UI"/>
              </a:rPr>
              <a:t>Supervisor: </a:t>
            </a:r>
            <a:r>
              <a:rPr sz="1050" b="1">
                <a:solidFill>
                  <a:srgbClr val="FFFFFF"/>
                </a:solidFill>
                <a:latin typeface="Segoe UI"/>
              </a:rPr>
              <a:t>Shaik Sana Begum</a:t>
            </a:r>
          </a:p>
          <a:p>
            <a:r>
              <a:rPr sz="1050" b="1">
                <a:solidFill>
                  <a:srgbClr val="94A3B8"/>
                </a:solidFill>
                <a:latin typeface="Segoe UI"/>
              </a:rPr>
              <a:t>Designation: </a:t>
            </a:r>
            <a:r>
              <a:rPr sz="1050" b="1">
                <a:solidFill>
                  <a:srgbClr val="FFFFFF"/>
                </a:solidFill>
                <a:latin typeface="Segoe UI"/>
              </a:rPr>
              <a:t>Assistant Professor</a:t>
            </a:r>
          </a:p>
          <a:p>
            <a:r>
              <a:rPr sz="1050" b="1">
                <a:solidFill>
                  <a:srgbClr val="94A3B8"/>
                </a:solidFill>
                <a:latin typeface="Segoe UI"/>
              </a:rPr>
              <a:t>Department: </a:t>
            </a:r>
            <a:r>
              <a:rPr sz="1050" b="1">
                <a:solidFill>
                  <a:srgbClr val="FFFFFF"/>
                </a:solidFill>
                <a:latin typeface="Segoe UI"/>
              </a:rPr>
              <a:t>School of Computer Science &amp; Engineering</a:t>
            </a:r>
          </a:p>
          <a:p>
            <a:r>
              <a:rPr sz="1050" b="1">
                <a:solidFill>
                  <a:srgbClr val="94A3B8"/>
                </a:solidFill>
                <a:latin typeface="Segoe UI"/>
              </a:rPr>
              <a:t>Institution: </a:t>
            </a:r>
            <a:r>
              <a:rPr sz="1050" b="1">
                <a:solidFill>
                  <a:srgbClr val="FFFFFF"/>
                </a:solidFill>
                <a:latin typeface="Segoe UI"/>
              </a:rPr>
              <a:t>Lovely Professional University, Phagwara, Punjab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Executive Summary &amp; System Architecture Vision</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2 / 18</a:t>
            </a:r>
          </a:p>
        </p:txBody>
      </p:sp>
      <p:sp>
        <p:nvSpPr>
          <p:cNvPr id="7" name="Rounded Rectangle 6"/>
          <p:cNvSpPr/>
          <p:nvPr/>
        </p:nvSpPr>
        <p:spPr>
          <a:xfrm>
            <a:off x="731520" y="1371600"/>
            <a:ext cx="2560320" cy="914400"/>
          </a:xfrm>
          <a:prstGeom prst="roundRect">
            <a:avLst/>
          </a:prstGeom>
          <a:solidFill>
            <a:srgbClr val="F1F5F9"/>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2560320" cy="822960"/>
          </a:xfrm>
          <a:prstGeom prst="rect">
            <a:avLst/>
          </a:prstGeom>
          <a:noFill/>
        </p:spPr>
        <p:txBody>
          <a:bodyPr wrap="none">
            <a:spAutoFit/>
          </a:bodyPr>
          <a:lstStyle/>
          <a:p>
            <a:pPr algn="ctr">
              <a:defRPr b="1" sz="1800">
                <a:solidFill>
                  <a:srgbClr val="2563EB"/>
                </a:solidFill>
              </a:defRPr>
            </a:pPr>
            <a:r>
              <a:t>7 Collections</a:t>
            </a:r>
          </a:p>
          <a:p>
            <a:pPr algn="ctr">
              <a:defRPr sz="950">
                <a:solidFill>
                  <a:srgbClr val="64748B"/>
                </a:solidFill>
              </a:defRPr>
            </a:pPr>
            <a:r>
              <a:t>Zero Relational Joins</a:t>
            </a:r>
          </a:p>
        </p:txBody>
      </p:sp>
      <p:sp>
        <p:nvSpPr>
          <p:cNvPr id="9" name="Rounded Rectangle 8"/>
          <p:cNvSpPr/>
          <p:nvPr/>
        </p:nvSpPr>
        <p:spPr>
          <a:xfrm>
            <a:off x="3456432" y="1371600"/>
            <a:ext cx="2560320" cy="914400"/>
          </a:xfrm>
          <a:prstGeom prst="roundRect">
            <a:avLst/>
          </a:prstGeom>
          <a:solidFill>
            <a:srgbClr val="F1F5F9"/>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417320"/>
            <a:ext cx="2560320" cy="822960"/>
          </a:xfrm>
          <a:prstGeom prst="rect">
            <a:avLst/>
          </a:prstGeom>
          <a:noFill/>
        </p:spPr>
        <p:txBody>
          <a:bodyPr wrap="none">
            <a:spAutoFit/>
          </a:bodyPr>
          <a:lstStyle/>
          <a:p>
            <a:pPr algn="ctr">
              <a:defRPr b="1" sz="1800">
                <a:solidFill>
                  <a:srgbClr val="0D9488"/>
                </a:solidFill>
              </a:defRPr>
            </a:pPr>
            <a:r>
              <a:t>5 Aggregations</a:t>
            </a:r>
          </a:p>
          <a:p>
            <a:pPr algn="ctr">
              <a:defRPr sz="950">
                <a:solidFill>
                  <a:srgbClr val="64748B"/>
                </a:solidFill>
              </a:defRPr>
            </a:pPr>
            <a:r>
              <a:t>$unwind, $group, $lookup</a:t>
            </a:r>
          </a:p>
        </p:txBody>
      </p:sp>
      <p:sp>
        <p:nvSpPr>
          <p:cNvPr id="11" name="Rounded Rectangle 10"/>
          <p:cNvSpPr/>
          <p:nvPr/>
        </p:nvSpPr>
        <p:spPr>
          <a:xfrm>
            <a:off x="6181344" y="1371600"/>
            <a:ext cx="2560320" cy="914400"/>
          </a:xfrm>
          <a:prstGeom prst="roundRect">
            <a:avLst/>
          </a:prstGeom>
          <a:solidFill>
            <a:srgbClr val="F1F5F9"/>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1417320"/>
            <a:ext cx="2560320" cy="822960"/>
          </a:xfrm>
          <a:prstGeom prst="rect">
            <a:avLst/>
          </a:prstGeom>
          <a:noFill/>
        </p:spPr>
        <p:txBody>
          <a:bodyPr wrap="none">
            <a:spAutoFit/>
          </a:bodyPr>
          <a:lstStyle/>
          <a:p>
            <a:pPr algn="ctr">
              <a:defRPr b="1" sz="1800">
                <a:solidFill>
                  <a:srgbClr val="9333EA"/>
                </a:solidFill>
              </a:defRPr>
            </a:pPr>
            <a:r>
              <a:t>128-Dim Vectors</a:t>
            </a:r>
          </a:p>
          <a:p>
            <a:pPr algn="ctr">
              <a:defRPr sz="950">
                <a:solidFill>
                  <a:srgbClr val="64748B"/>
                </a:solidFill>
              </a:defRPr>
            </a:pPr>
            <a:r>
              <a:t>RAG Cosine Knowledge Store</a:t>
            </a:r>
          </a:p>
        </p:txBody>
      </p:sp>
      <p:sp>
        <p:nvSpPr>
          <p:cNvPr id="13" name="Rounded Rectangle 12"/>
          <p:cNvSpPr/>
          <p:nvPr/>
        </p:nvSpPr>
        <p:spPr>
          <a:xfrm>
            <a:off x="8906256" y="1371600"/>
            <a:ext cx="2560320" cy="914400"/>
          </a:xfrm>
          <a:prstGeom prst="roundRect">
            <a:avLst/>
          </a:prstGeom>
          <a:solidFill>
            <a:srgbClr val="F1F5F9"/>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06256" y="1417320"/>
            <a:ext cx="2560320" cy="822960"/>
          </a:xfrm>
          <a:prstGeom prst="rect">
            <a:avLst/>
          </a:prstGeom>
          <a:noFill/>
        </p:spPr>
        <p:txBody>
          <a:bodyPr wrap="none">
            <a:spAutoFit/>
          </a:bodyPr>
          <a:lstStyle/>
          <a:p>
            <a:pPr algn="ctr">
              <a:defRPr b="1" sz="1800">
                <a:solidFill>
                  <a:srgbClr val="10B981"/>
                </a:solidFill>
              </a:defRPr>
            </a:pPr>
            <a:r>
              <a:t>&lt; 10ms</a:t>
            </a:r>
          </a:p>
          <a:p>
            <a:pPr algn="ctr">
              <a:defRPr sz="950">
                <a:solidFill>
                  <a:srgbClr val="64748B"/>
                </a:solidFill>
              </a:defRPr>
            </a:pPr>
            <a:r>
              <a:t>Indexed IXSCAN Latency</a:t>
            </a:r>
          </a:p>
        </p:txBody>
      </p:sp>
      <p:sp>
        <p:nvSpPr>
          <p:cNvPr id="15" name="Rounded Rectangle 14"/>
          <p:cNvSpPr/>
          <p:nvPr/>
        </p:nvSpPr>
        <p:spPr>
          <a:xfrm>
            <a:off x="731520" y="2468880"/>
            <a:ext cx="5257800" cy="374903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606040"/>
            <a:ext cx="4892040" cy="3474720"/>
          </a:xfrm>
          <a:prstGeom prst="rect">
            <a:avLst/>
          </a:prstGeom>
          <a:noFill/>
        </p:spPr>
        <p:txBody>
          <a:bodyPr wrap="square">
            <a:spAutoFit/>
          </a:bodyPr>
          <a:lstStyle/>
          <a:p>
            <a:pPr>
              <a:defRPr b="1" sz="1400">
                <a:solidFill>
                  <a:srgbClr val="2563EB"/>
                </a:solidFill>
              </a:defRPr>
            </a:pPr>
            <a:r>
              <a:t>Target Problem &amp; Core Solution</a:t>
            </a:r>
          </a:p>
          <a:p>
            <a:pPr>
              <a:spcBef>
                <a:spcPts val="800"/>
              </a:spcBef>
            </a:pPr>
            <a:r>
              <a:rPr sz="1050" b="1">
                <a:solidFill>
                  <a:srgbClr val="0F172A"/>
                </a:solidFill>
                <a:latin typeface="Segoe UI"/>
              </a:rPr>
              <a:t>• Bridging the Industry Gap: </a:t>
            </a:r>
            <a:r>
              <a:rPr sz="1050" b="0">
                <a:solidFill>
                  <a:srgbClr val="64748B"/>
                </a:solidFill>
                <a:latin typeface="Segoe UI"/>
              </a:rPr>
              <a:t>Engineering graduates often struggle to identify exact competency deficiencies required for modern software and data science roles.</a:t>
            </a:r>
          </a:p>
          <a:p>
            <a:pPr>
              <a:spcBef>
                <a:spcPts val="800"/>
              </a:spcBef>
            </a:pPr>
            <a:r>
              <a:rPr sz="1050" b="1">
                <a:solidFill>
                  <a:srgbClr val="0F172A"/>
                </a:solidFill>
                <a:latin typeface="Segoe UI"/>
              </a:rPr>
              <a:t>• Semi-Structured Ingestion: </a:t>
            </a:r>
            <a:r>
              <a:rPr sz="1050" b="0">
                <a:solidFill>
                  <a:srgbClr val="64748B"/>
                </a:solidFill>
                <a:latin typeface="Segoe UI"/>
              </a:rPr>
              <a:t>Extracts raw text and nested projects from PDF resumes directly into schema-flexible BSON documents.</a:t>
            </a:r>
          </a:p>
          <a:p>
            <a:pPr>
              <a:spcBef>
                <a:spcPts val="800"/>
              </a:spcBef>
            </a:pPr>
            <a:r>
              <a:rPr sz="1050" b="1">
                <a:solidFill>
                  <a:srgbClr val="0F172A"/>
                </a:solidFill>
                <a:latin typeface="Segoe UI"/>
              </a:rPr>
              <a:t>• Dual-Metric Scoring: </a:t>
            </a:r>
            <a:r>
              <a:rPr sz="1050" b="0">
                <a:solidFill>
                  <a:srgbClr val="64748B"/>
                </a:solidFill>
                <a:latin typeface="Segoe UI"/>
              </a:rPr>
              <a:t>Combines 70% exact taxonomy matching with 30% Scikit-Learn TF-IDF cosine similarity for realistic compatibility assessment.</a:t>
            </a:r>
          </a:p>
          <a:p>
            <a:pPr>
              <a:spcBef>
                <a:spcPts val="800"/>
              </a:spcBef>
            </a:pPr>
            <a:r>
              <a:rPr sz="1050" b="1">
                <a:solidFill>
                  <a:srgbClr val="0F172A"/>
                </a:solidFill>
                <a:latin typeface="Segoe UI"/>
              </a:rPr>
              <a:t>• Unified Storage &amp; Intelligence: </a:t>
            </a:r>
            <a:r>
              <a:rPr sz="1050" b="0">
                <a:solidFill>
                  <a:srgbClr val="64748B"/>
                </a:solidFill>
                <a:latin typeface="Segoe UI"/>
              </a:rPr>
              <a:t>Unifies candidate demographics, job postings, transactional gap evaluations, and dense vector embeddings within a single MongoDB cluster.</a:t>
            </a:r>
          </a:p>
        </p:txBody>
      </p:sp>
      <p:sp>
        <p:nvSpPr>
          <p:cNvPr id="17" name="Rounded Rectangle 16"/>
          <p:cNvSpPr/>
          <p:nvPr/>
        </p:nvSpPr>
        <p:spPr>
          <a:xfrm>
            <a:off x="6217920" y="2468880"/>
            <a:ext cx="5257800" cy="374903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606040"/>
            <a:ext cx="4892040" cy="3474720"/>
          </a:xfrm>
          <a:prstGeom prst="rect">
            <a:avLst/>
          </a:prstGeom>
          <a:noFill/>
        </p:spPr>
        <p:txBody>
          <a:bodyPr wrap="square">
            <a:spAutoFit/>
          </a:bodyPr>
          <a:lstStyle/>
          <a:p>
            <a:pPr>
              <a:defRPr b="1" sz="1400">
                <a:solidFill>
                  <a:srgbClr val="0D9488"/>
                </a:solidFill>
              </a:defRPr>
            </a:pPr>
            <a:r>
              <a:t>Key Technological Pillars</a:t>
            </a:r>
          </a:p>
          <a:p>
            <a:pPr>
              <a:spcBef>
                <a:spcPts val="800"/>
              </a:spcBef>
            </a:pPr>
            <a:r>
              <a:rPr sz="1050" b="1">
                <a:solidFill>
                  <a:srgbClr val="0F172A"/>
                </a:solidFill>
                <a:latin typeface="Segoe UI"/>
              </a:rPr>
              <a:t>• Atomic NoSQL Manipulation: </a:t>
            </a:r>
            <a:r>
              <a:rPr sz="1050" b="0">
                <a:solidFill>
                  <a:srgbClr val="64748B"/>
                </a:solidFill>
                <a:latin typeface="Segoe UI"/>
              </a:rPr>
              <a:t>Leverages $addToSet and $pull for set-level skill updates without relational junction tables or duplicate records.</a:t>
            </a:r>
          </a:p>
          <a:p>
            <a:pPr>
              <a:spcBef>
                <a:spcPts val="800"/>
              </a:spcBef>
            </a:pPr>
            <a:r>
              <a:rPr sz="1050" b="1">
                <a:solidFill>
                  <a:srgbClr val="0F172A"/>
                </a:solidFill>
                <a:latin typeface="Segoe UI"/>
              </a:rPr>
              <a:t>• Multi-Stage Pipeline Analytics: </a:t>
            </a:r>
            <a:r>
              <a:rPr sz="1050" b="0">
                <a:solidFill>
                  <a:srgbClr val="64748B"/>
                </a:solidFill>
                <a:latin typeface="Segoe UI"/>
              </a:rPr>
              <a:t>Runs 5 in-memory aggregation pipelines computing market demand, applicant tier distributions ($bucket), and cross-collection joins ($lookup).</a:t>
            </a:r>
          </a:p>
          <a:p>
            <a:pPr>
              <a:spcBef>
                <a:spcPts val="800"/>
              </a:spcBef>
            </a:pPr>
            <a:r>
              <a:rPr sz="1050" b="1">
                <a:solidFill>
                  <a:srgbClr val="0F172A"/>
                </a:solidFill>
                <a:latin typeface="Segoe UI"/>
              </a:rPr>
              <a:t>• Embedded Knowledge Vectors: </a:t>
            </a:r>
            <a:r>
              <a:rPr sz="1050" b="0">
                <a:solidFill>
                  <a:srgbClr val="64748B"/>
                </a:solidFill>
                <a:latin typeface="Segoe UI"/>
              </a:rPr>
              <a:t>Stores 128-dimensional curriculum embeddings in MongoDB knowledge_vectors for fast point-lookup and vector similarity.</a:t>
            </a:r>
          </a:p>
          <a:p>
            <a:pPr>
              <a:spcBef>
                <a:spcPts val="800"/>
              </a:spcBef>
            </a:pPr>
            <a:r>
              <a:rPr sz="1050" b="1">
                <a:solidFill>
                  <a:srgbClr val="0F172A"/>
                </a:solidFill>
                <a:latin typeface="Segoe UI"/>
              </a:rPr>
              <a:t>• Actionable Generative AI (RAG): </a:t>
            </a:r>
            <a:r>
              <a:rPr sz="1050" b="0">
                <a:solidFill>
                  <a:srgbClr val="64748B"/>
                </a:solidFill>
                <a:latin typeface="Segoe UI"/>
              </a:rPr>
              <a:t>Instead of passive rejection emails, Google Gemini retrieves curriculum chunks from MongoDB to generate tailored 3-week roadmaps and project blueprints.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Problem Statement &amp; Core Project Objectives</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3 / 18</a:t>
            </a:r>
          </a:p>
        </p:txBody>
      </p:sp>
      <p:sp>
        <p:nvSpPr>
          <p:cNvPr id="7" name="Rounded Rectangle 6"/>
          <p:cNvSpPr/>
          <p:nvPr/>
        </p:nvSpPr>
        <p:spPr>
          <a:xfrm>
            <a:off x="731520" y="1371600"/>
            <a:ext cx="52578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892040" cy="4480560"/>
          </a:xfrm>
          <a:prstGeom prst="rect">
            <a:avLst/>
          </a:prstGeom>
          <a:noFill/>
        </p:spPr>
        <p:txBody>
          <a:bodyPr wrap="square">
            <a:spAutoFit/>
          </a:bodyPr>
          <a:lstStyle/>
          <a:p>
            <a:pPr>
              <a:defRPr b="1" sz="1400">
                <a:solidFill>
                  <a:srgbClr val="EA580C"/>
                </a:solidFill>
              </a:defRPr>
            </a:pPr>
            <a:r>
              <a:t>Limitations of Existing Relational ATS Platforms</a:t>
            </a:r>
          </a:p>
          <a:p>
            <a:pPr>
              <a:spcBef>
                <a:spcPts val="600"/>
              </a:spcBef>
            </a:pPr>
            <a:r>
              <a:rPr sz="950" b="1">
                <a:solidFill>
                  <a:srgbClr val="B91C1C"/>
                </a:solidFill>
                <a:latin typeface="Segoe UI"/>
              </a:rPr>
              <a:t>[!] Crude ATS Keyword Matching: </a:t>
            </a:r>
            <a:r>
              <a:rPr sz="900" b="0">
                <a:solidFill>
                  <a:srgbClr val="0F172A"/>
                </a:solidFill>
                <a:latin typeface="Segoe UI"/>
              </a:rPr>
              <a:t>Existing Applicant Tracking Systems use naive exact-string matching, failing to capture semantic synonyms (e.g., PyTorch implies Deep Learning competence).</a:t>
            </a:r>
          </a:p>
          <a:p>
            <a:pPr>
              <a:spcBef>
                <a:spcPts val="600"/>
              </a:spcBef>
            </a:pPr>
            <a:r>
              <a:rPr sz="950" b="1">
                <a:solidFill>
                  <a:srgbClr val="B91C1C"/>
                </a:solidFill>
                <a:latin typeface="Segoe UI"/>
              </a:rPr>
              <a:t>[!] Relational Schema Rigidity: </a:t>
            </a:r>
            <a:r>
              <a:rPr sz="900" b="0">
                <a:solidFill>
                  <a:srgbClr val="0F172A"/>
                </a:solidFill>
                <a:latin typeface="Segoe UI"/>
              </a:rPr>
              <a:t>SQL engines require destructive ALTER TABLE statements whenever emerging tech stacks (e.g., Vector DBs, LangChain, Kubernetes) are added.</a:t>
            </a:r>
          </a:p>
          <a:p>
            <a:pPr>
              <a:spcBef>
                <a:spcPts val="600"/>
              </a:spcBef>
            </a:pPr>
            <a:r>
              <a:rPr sz="950" b="1">
                <a:solidFill>
                  <a:srgbClr val="B91C1C"/>
                </a:solidFill>
                <a:latin typeface="Segoe UI"/>
              </a:rPr>
              <a:t>[!] Expensive Multi-Table Relational JOINs: </a:t>
            </a:r>
            <a:r>
              <a:rPr sz="900" b="0">
                <a:solidFill>
                  <a:srgbClr val="0F172A"/>
                </a:solidFill>
                <a:latin typeface="Segoe UI"/>
              </a:rPr>
              <a:t>Querying 20+ skills and embedded project histories requires 3-way table joins across candidates, skills, and junction tables, degrading read throughput.</a:t>
            </a:r>
          </a:p>
          <a:p>
            <a:pPr>
              <a:spcBef>
                <a:spcPts val="600"/>
              </a:spcBef>
            </a:pPr>
            <a:r>
              <a:rPr sz="950" b="1">
                <a:solidFill>
                  <a:srgbClr val="B91C1C"/>
                </a:solidFill>
                <a:latin typeface="Segoe UI"/>
              </a:rPr>
              <a:t>[!] Absence of Actionable Guidance: </a:t>
            </a:r>
            <a:r>
              <a:rPr sz="900" b="0">
                <a:solidFill>
                  <a:srgbClr val="0F172A"/>
                </a:solidFill>
                <a:latin typeface="Segoe UI"/>
              </a:rPr>
              <a:t>Job portals merely display a rejection or percentage score without providing guided architectural blueprints to bridge the deficit.</a:t>
            </a:r>
          </a:p>
          <a:p>
            <a:pPr>
              <a:spcBef>
                <a:spcPts val="600"/>
              </a:spcBef>
            </a:pPr>
            <a:r>
              <a:rPr sz="950" b="1">
                <a:solidFill>
                  <a:srgbClr val="B91C1C"/>
                </a:solidFill>
                <a:latin typeface="Segoe UI"/>
              </a:rPr>
              <a:t>[!] Vector Sprawl: </a:t>
            </a:r>
            <a:r>
              <a:rPr sz="900" b="0">
                <a:solidFill>
                  <a:srgbClr val="0F172A"/>
                </a:solidFill>
                <a:latin typeface="Segoe UI"/>
              </a:rPr>
              <a:t>Traditional architectures require external specialized vector databases (Pinecone, Milvus), creating dual-database synchronization headaches.</a:t>
            </a:r>
          </a:p>
        </p:txBody>
      </p:sp>
      <p:sp>
        <p:nvSpPr>
          <p:cNvPr id="9" name="Rounded Rectangle 8"/>
          <p:cNvSpPr/>
          <p:nvPr/>
        </p:nvSpPr>
        <p:spPr>
          <a:xfrm>
            <a:off x="6217920" y="1371600"/>
            <a:ext cx="52578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92040" cy="4480560"/>
          </a:xfrm>
          <a:prstGeom prst="rect">
            <a:avLst/>
          </a:prstGeom>
          <a:noFill/>
        </p:spPr>
        <p:txBody>
          <a:bodyPr wrap="square">
            <a:spAutoFit/>
          </a:bodyPr>
          <a:lstStyle/>
          <a:p>
            <a:pPr>
              <a:defRPr b="1" sz="1400">
                <a:solidFill>
                  <a:srgbClr val="10B981"/>
                </a:solidFill>
              </a:defRPr>
            </a:pPr>
            <a:r>
              <a:t>Proposed System &amp; Technical Objectives</a:t>
            </a:r>
          </a:p>
          <a:p>
            <a:pPr>
              <a:spcBef>
                <a:spcPts val="600"/>
              </a:spcBef>
            </a:pPr>
            <a:r>
              <a:rPr sz="950" b="1">
                <a:solidFill>
                  <a:srgbClr val="10B981"/>
                </a:solidFill>
                <a:latin typeface="Segoe UI"/>
              </a:rPr>
              <a:t>[+] Dynamic NoSQL Schema: </a:t>
            </a:r>
            <a:r>
              <a:rPr sz="900" b="0">
                <a:solidFill>
                  <a:srgbClr val="0F172A"/>
                </a:solidFill>
                <a:latin typeface="Segoe UI"/>
              </a:rPr>
              <a:t>Design a flexible MongoDB document model capable of storing semi-structured PDF resumes, user profiles, and dynamic skill arrays without schema migrations.</a:t>
            </a:r>
          </a:p>
          <a:p>
            <a:pPr>
              <a:spcBef>
                <a:spcPts val="600"/>
              </a:spcBef>
            </a:pPr>
            <a:r>
              <a:rPr sz="950" b="1">
                <a:solidFill>
                  <a:srgbClr val="10B981"/>
                </a:solidFill>
                <a:latin typeface="Segoe UI"/>
              </a:rPr>
              <a:t>[+] Atomic Array Modifiers: </a:t>
            </a:r>
            <a:r>
              <a:rPr sz="900" b="0">
                <a:solidFill>
                  <a:srgbClr val="0F172A"/>
                </a:solidFill>
                <a:latin typeface="Segoe UI"/>
              </a:rPr>
              <a:t>Implement atomic array updates using $addToSet, $push, and $pull to prevent duplicate entries and eliminate junction tables.</a:t>
            </a:r>
          </a:p>
          <a:p>
            <a:pPr>
              <a:spcBef>
                <a:spcPts val="600"/>
              </a:spcBef>
            </a:pPr>
            <a:r>
              <a:rPr sz="950" b="1">
                <a:solidFill>
                  <a:srgbClr val="10B981"/>
                </a:solidFill>
                <a:latin typeface="Segoe UI"/>
              </a:rPr>
              <a:t>[+] Multi-Stage Pipeline Analytics: </a:t>
            </a:r>
            <a:r>
              <a:rPr sz="900" b="0">
                <a:solidFill>
                  <a:srgbClr val="0F172A"/>
                </a:solidFill>
                <a:latin typeface="Segoe UI"/>
              </a:rPr>
              <a:t>Formulate 5 advanced MongoDB Aggregation pipelines ($unwind, $group, $lookup, $bucket, $project) to compute talent supply vs. demand in real-time.</a:t>
            </a:r>
          </a:p>
          <a:p>
            <a:pPr>
              <a:spcBef>
                <a:spcPts val="600"/>
              </a:spcBef>
            </a:pPr>
            <a:r>
              <a:rPr sz="950" b="1">
                <a:solidFill>
                  <a:srgbClr val="10B981"/>
                </a:solidFill>
                <a:latin typeface="Segoe UI"/>
              </a:rPr>
              <a:t>[+] Retrieval-Augmented Generation (RAG): </a:t>
            </a:r>
            <a:r>
              <a:rPr sz="900" b="0">
                <a:solidFill>
                  <a:srgbClr val="0F172A"/>
                </a:solidFill>
                <a:latin typeface="Segoe UI"/>
              </a:rPr>
              <a:t>Store 128-dimensional curriculum embeddings in MongoDB and retrieve top-K semantic chunks to ground Google Gemini 2.5 Flash responses.</a:t>
            </a:r>
          </a:p>
          <a:p>
            <a:pPr>
              <a:spcBef>
                <a:spcPts val="600"/>
              </a:spcBef>
            </a:pPr>
            <a:r>
              <a:rPr sz="950" b="1">
                <a:solidFill>
                  <a:srgbClr val="10B981"/>
                </a:solidFill>
                <a:latin typeface="Segoe UI"/>
              </a:rPr>
              <a:t>[+] Interactive Streamlit Telemetry: </a:t>
            </a:r>
            <a:r>
              <a:rPr sz="900" b="0">
                <a:solidFill>
                  <a:srgbClr val="0F172A"/>
                </a:solidFill>
                <a:latin typeface="Segoe UI"/>
              </a:rPr>
              <a:t>Build an executive web interface with live MongoDB CRUD simulators, explain('executionStats') query inspector, and visual market graphs.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Why MongoDB? Relational (SQL) vs. NoSQL Document Store</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4 / 18</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286000"/>
                <a:gridCol w="4114800"/>
                <a:gridCol w="4327855"/>
              </a:tblGrid>
              <a:tr h="594360">
                <a:tc>
                  <a:txBody>
                    <a:bodyPr/>
                    <a:lstStyle/>
                    <a:p>
                      <a:pPr>
                        <a:defRPr sz="1050" b="1">
                          <a:solidFill>
                            <a:srgbClr val="FFFFFF"/>
                          </a:solidFill>
                          <a:latin typeface="Segoe UI"/>
                        </a:defRPr>
                      </a:pPr>
                      <a:r>
                        <a:t>Feature / Paradigm</a:t>
                      </a:r>
                    </a:p>
                  </a:txBody>
                  <a:tcPr>
                    <a:solidFill>
                      <a:srgbClr val="0F172A"/>
                    </a:solidFill>
                  </a:tcPr>
                </a:tc>
                <a:tc>
                  <a:txBody>
                    <a:bodyPr/>
                    <a:lstStyle/>
                    <a:p>
                      <a:pPr>
                        <a:defRPr sz="1050" b="1">
                          <a:solidFill>
                            <a:srgbClr val="FFFFFF"/>
                          </a:solidFill>
                          <a:latin typeface="Segoe UI"/>
                        </a:defRPr>
                      </a:pPr>
                      <a:r>
                        <a:t>Relational Database (MySQL / PostgreSQL)</a:t>
                      </a:r>
                    </a:p>
                  </a:txBody>
                  <a:tcPr>
                    <a:solidFill>
                      <a:srgbClr val="0F172A"/>
                    </a:solidFill>
                  </a:tcPr>
                </a:tc>
                <a:tc>
                  <a:txBody>
                    <a:bodyPr/>
                    <a:lstStyle/>
                    <a:p>
                      <a:pPr>
                        <a:defRPr sz="1050" b="1">
                          <a:solidFill>
                            <a:srgbClr val="FFFFFF"/>
                          </a:solidFill>
                          <a:latin typeface="Segoe UI"/>
                        </a:defRPr>
                      </a:pPr>
                      <a:r>
                        <a:t>MongoDB (Document Store) — OUR PLATFORM</a:t>
                      </a:r>
                    </a:p>
                  </a:txBody>
                  <a:tcPr>
                    <a:solidFill>
                      <a:srgbClr val="2563EB"/>
                    </a:solidFill>
                  </a:tcPr>
                </a:tc>
              </a:tr>
              <a:tr h="594360">
                <a:tc>
                  <a:txBody>
                    <a:bodyPr/>
                    <a:lstStyle/>
                    <a:p>
                      <a:pPr>
                        <a:defRPr sz="950" b="1">
                          <a:solidFill>
                            <a:srgbClr val="0F172A"/>
                          </a:solidFill>
                          <a:latin typeface="Segoe UI"/>
                        </a:defRPr>
                      </a:pPr>
                      <a:r>
                        <a:t>Data Structure</a:t>
                      </a:r>
                    </a:p>
                  </a:txBody>
                  <a:tcPr>
                    <a:solidFill>
                      <a:srgbClr val="F1F5F9"/>
                    </a:solidFill>
                  </a:tcPr>
                </a:tc>
                <a:tc>
                  <a:txBody>
                    <a:bodyPr/>
                    <a:lstStyle/>
                    <a:p>
                      <a:pPr>
                        <a:defRPr sz="950">
                          <a:solidFill>
                            <a:srgbClr val="7F1D1D"/>
                          </a:solidFill>
                          <a:latin typeface="Segoe UI"/>
                        </a:defRPr>
                      </a:pPr>
                      <a:r>
                        <a:t>Rigid tables, fixed column schemas, relational constraints</a:t>
                      </a:r>
                    </a:p>
                  </a:txBody>
                  <a:tcPr>
                    <a:solidFill>
                      <a:srgbClr val="FEF2F2"/>
                    </a:solidFill>
                  </a:tcPr>
                </a:tc>
                <a:tc>
                  <a:txBody>
                    <a:bodyPr/>
                    <a:lstStyle/>
                    <a:p>
                      <a:pPr>
                        <a:defRPr sz="950" b="1">
                          <a:solidFill>
                            <a:srgbClr val="134E4A"/>
                          </a:solidFill>
                          <a:latin typeface="Segoe UI"/>
                        </a:defRPr>
                      </a:pPr>
                      <a:r>
                        <a:t>Semi-structured BSON documents with dynamic, flexible fields</a:t>
                      </a:r>
                    </a:p>
                  </a:txBody>
                  <a:tcPr>
                    <a:solidFill>
                      <a:srgbClr val="F0FDFA"/>
                    </a:solidFill>
                  </a:tcPr>
                </a:tc>
              </a:tr>
              <a:tr h="594360">
                <a:tc>
                  <a:txBody>
                    <a:bodyPr/>
                    <a:lstStyle/>
                    <a:p>
                      <a:pPr>
                        <a:defRPr sz="950" b="1">
                          <a:solidFill>
                            <a:srgbClr val="0F172A"/>
                          </a:solidFill>
                          <a:latin typeface="Segoe UI"/>
                        </a:defRPr>
                      </a:pPr>
                      <a:r>
                        <a:t>Array of Skills</a:t>
                      </a:r>
                    </a:p>
                  </a:txBody>
                  <a:tcPr>
                    <a:solidFill>
                      <a:srgbClr val="F1F5F9"/>
                    </a:solidFill>
                  </a:tcPr>
                </a:tc>
                <a:tc>
                  <a:txBody>
                    <a:bodyPr/>
                    <a:lstStyle/>
                    <a:p>
                      <a:pPr>
                        <a:defRPr sz="950">
                          <a:solidFill>
                            <a:srgbClr val="7F1D1D"/>
                          </a:solidFill>
                          <a:latin typeface="Segoe UI"/>
                        </a:defRPr>
                      </a:pPr>
                      <a:r>
                        <a:t>Requires junction table (candidate_skills) + expensive JOINs</a:t>
                      </a:r>
                    </a:p>
                  </a:txBody>
                  <a:tcPr>
                    <a:solidFill>
                      <a:srgbClr val="FFFFFF"/>
                    </a:solidFill>
                  </a:tcPr>
                </a:tc>
                <a:tc>
                  <a:txBody>
                    <a:bodyPr/>
                    <a:lstStyle/>
                    <a:p>
                      <a:pPr>
                        <a:defRPr sz="950" b="1">
                          <a:solidFill>
                            <a:srgbClr val="134E4A"/>
                          </a:solidFill>
                          <a:latin typeface="Segoe UI"/>
                        </a:defRPr>
                      </a:pPr>
                      <a:r>
                        <a:t>Native BSON Array (e.g. "skills": ["Python", "Docker"])</a:t>
                      </a:r>
                    </a:p>
                  </a:txBody>
                  <a:tcPr>
                    <a:solidFill>
                      <a:srgbClr val="FFFFFF"/>
                    </a:solidFill>
                  </a:tcPr>
                </a:tc>
              </a:tr>
              <a:tr h="594360">
                <a:tc>
                  <a:txBody>
                    <a:bodyPr/>
                    <a:lstStyle/>
                    <a:p>
                      <a:pPr>
                        <a:defRPr sz="950" b="1">
                          <a:solidFill>
                            <a:srgbClr val="0F172A"/>
                          </a:solidFill>
                          <a:latin typeface="Segoe UI"/>
                        </a:defRPr>
                      </a:pPr>
                      <a:r>
                        <a:t>Nested Project History</a:t>
                      </a:r>
                    </a:p>
                  </a:txBody>
                  <a:tcPr>
                    <a:solidFill>
                      <a:srgbClr val="F1F5F9"/>
                    </a:solidFill>
                  </a:tcPr>
                </a:tc>
                <a:tc>
                  <a:txBody>
                    <a:bodyPr/>
                    <a:lstStyle/>
                    <a:p>
                      <a:pPr>
                        <a:defRPr sz="950">
                          <a:solidFill>
                            <a:srgbClr val="7F1D1D"/>
                          </a:solidFill>
                          <a:latin typeface="Segoe UI"/>
                        </a:defRPr>
                      </a:pPr>
                      <a:r>
                        <a:t>1-to-N normalized foreign key tables requiring joins</a:t>
                      </a:r>
                    </a:p>
                  </a:txBody>
                  <a:tcPr>
                    <a:solidFill>
                      <a:srgbClr val="FEF2F2"/>
                    </a:solidFill>
                  </a:tcPr>
                </a:tc>
                <a:tc>
                  <a:txBody>
                    <a:bodyPr/>
                    <a:lstStyle/>
                    <a:p>
                      <a:pPr>
                        <a:defRPr sz="950" b="1">
                          <a:solidFill>
                            <a:srgbClr val="134E4A"/>
                          </a:solidFill>
                          <a:latin typeface="Segoe UI"/>
                        </a:defRPr>
                      </a:pPr>
                      <a:r>
                        <a:t>Embedded subdocuments inside resumes collection</a:t>
                      </a:r>
                    </a:p>
                  </a:txBody>
                  <a:tcPr>
                    <a:solidFill>
                      <a:srgbClr val="F0FDFA"/>
                    </a:solidFill>
                  </a:tcPr>
                </a:tc>
              </a:tr>
              <a:tr h="594360">
                <a:tc>
                  <a:txBody>
                    <a:bodyPr/>
                    <a:lstStyle/>
                    <a:p>
                      <a:pPr>
                        <a:defRPr sz="950" b="1">
                          <a:solidFill>
                            <a:srgbClr val="0F172A"/>
                          </a:solidFill>
                          <a:latin typeface="Segoe UI"/>
                        </a:defRPr>
                      </a:pPr>
                      <a:r>
                        <a:t>Array Modification</a:t>
                      </a:r>
                    </a:p>
                  </a:txBody>
                  <a:tcPr>
                    <a:solidFill>
                      <a:srgbClr val="F1F5F9"/>
                    </a:solidFill>
                  </a:tcPr>
                </a:tc>
                <a:tc>
                  <a:txBody>
                    <a:bodyPr/>
                    <a:lstStyle/>
                    <a:p>
                      <a:pPr>
                        <a:defRPr sz="950">
                          <a:solidFill>
                            <a:srgbClr val="7F1D1D"/>
                          </a:solidFill>
                          <a:latin typeface="Segoe UI"/>
                        </a:defRPr>
                      </a:pPr>
                      <a:r>
                        <a:t>Multiple DELETE + INSERT statements with race conditions</a:t>
                      </a:r>
                    </a:p>
                  </a:txBody>
                  <a:tcPr>
                    <a:solidFill>
                      <a:srgbClr val="FFFFFF"/>
                    </a:solidFill>
                  </a:tcPr>
                </a:tc>
                <a:tc>
                  <a:txBody>
                    <a:bodyPr/>
                    <a:lstStyle/>
                    <a:p>
                      <a:pPr>
                        <a:defRPr sz="950" b="1">
                          <a:solidFill>
                            <a:srgbClr val="134E4A"/>
                          </a:solidFill>
                          <a:latin typeface="Segoe UI"/>
                        </a:defRPr>
                      </a:pPr>
                      <a:r>
                        <a:t>Atomic in-place modifiers: $addToSet, $push, $pull</a:t>
                      </a:r>
                    </a:p>
                  </a:txBody>
                  <a:tcPr>
                    <a:solidFill>
                      <a:srgbClr val="FFFFFF"/>
                    </a:solidFill>
                  </a:tcPr>
                </a:tc>
              </a:tr>
              <a:tr h="594360">
                <a:tc>
                  <a:txBody>
                    <a:bodyPr/>
                    <a:lstStyle/>
                    <a:p>
                      <a:pPr>
                        <a:defRPr sz="950" b="1">
                          <a:solidFill>
                            <a:srgbClr val="0F172A"/>
                          </a:solidFill>
                          <a:latin typeface="Segoe UI"/>
                        </a:defRPr>
                      </a:pPr>
                      <a:r>
                        <a:t>Vector Embeddings (RAG)</a:t>
                      </a:r>
                    </a:p>
                  </a:txBody>
                  <a:tcPr>
                    <a:solidFill>
                      <a:srgbClr val="F1F5F9"/>
                    </a:solidFill>
                  </a:tcPr>
                </a:tc>
                <a:tc>
                  <a:txBody>
                    <a:bodyPr/>
                    <a:lstStyle/>
                    <a:p>
                      <a:pPr>
                        <a:defRPr sz="950">
                          <a:solidFill>
                            <a:srgbClr val="7F1D1D"/>
                          </a:solidFill>
                          <a:latin typeface="Segoe UI"/>
                        </a:defRPr>
                      </a:pPr>
                      <a:r>
                        <a:t>Requires external vector DB (Pinecone/Milvus), data sprawl</a:t>
                      </a:r>
                    </a:p>
                  </a:txBody>
                  <a:tcPr>
                    <a:solidFill>
                      <a:srgbClr val="FEF2F2"/>
                    </a:solidFill>
                  </a:tcPr>
                </a:tc>
                <a:tc>
                  <a:txBody>
                    <a:bodyPr/>
                    <a:lstStyle/>
                    <a:p>
                      <a:pPr>
                        <a:defRPr sz="950" b="1">
                          <a:solidFill>
                            <a:srgbClr val="134E4A"/>
                          </a:solidFill>
                          <a:latin typeface="Segoe UI"/>
                        </a:defRPr>
                      </a:pPr>
                      <a:r>
                        <a:t>Stores float vectors directly inside knowledge_vectors</a:t>
                      </a:r>
                    </a:p>
                  </a:txBody>
                  <a:tcPr>
                    <a:solidFill>
                      <a:srgbClr val="F0FDFA"/>
                    </a:solidFill>
                  </a:tcPr>
                </a:tc>
              </a:tr>
              <a:tr h="594360">
                <a:tc>
                  <a:txBody>
                    <a:bodyPr/>
                    <a:lstStyle/>
                    <a:p>
                      <a:pPr>
                        <a:defRPr sz="950" b="1">
                          <a:solidFill>
                            <a:srgbClr val="0F172A"/>
                          </a:solidFill>
                          <a:latin typeface="Segoe UI"/>
                        </a:defRPr>
                      </a:pPr>
                      <a:r>
                        <a:t>Aggregation / Analytics</a:t>
                      </a:r>
                    </a:p>
                  </a:txBody>
                  <a:tcPr>
                    <a:solidFill>
                      <a:srgbClr val="F1F5F9"/>
                    </a:solidFill>
                  </a:tcPr>
                </a:tc>
                <a:tc>
                  <a:txBody>
                    <a:bodyPr/>
                    <a:lstStyle/>
                    <a:p>
                      <a:pPr>
                        <a:defRPr sz="950">
                          <a:solidFill>
                            <a:srgbClr val="7F1D1D"/>
                          </a:solidFill>
                          <a:latin typeface="Segoe UI"/>
                        </a:defRPr>
                      </a:pPr>
                      <a:r>
                        <a:t>Multi-table JOIN + GROUP BY; slow on text arrays</a:t>
                      </a:r>
                    </a:p>
                  </a:txBody>
                  <a:tcPr>
                    <a:solidFill>
                      <a:srgbClr val="FFFFFF"/>
                    </a:solidFill>
                  </a:tcPr>
                </a:tc>
                <a:tc>
                  <a:txBody>
                    <a:bodyPr/>
                    <a:lstStyle/>
                    <a:p>
                      <a:pPr>
                        <a:defRPr sz="950" b="1">
                          <a:solidFill>
                            <a:srgbClr val="134E4A"/>
                          </a:solidFill>
                          <a:latin typeface="Segoe UI"/>
                        </a:defRPr>
                      </a:pPr>
                      <a:r>
                        <a:t>Fast in-memory pipelines: $unwind, $group, $lookup, $bucket</a:t>
                      </a:r>
                    </a:p>
                  </a:txBody>
                  <a:tcPr>
                    <a:solidFill>
                      <a:srgbClr val="FFFFFF"/>
                    </a:solidFill>
                  </a:tcPr>
                </a:tc>
              </a:tr>
              <a:tr h="594360">
                <a:tc>
                  <a:txBody>
                    <a:bodyPr/>
                    <a:lstStyle/>
                    <a:p>
                      <a:pPr>
                        <a:defRPr sz="950" b="1">
                          <a:solidFill>
                            <a:srgbClr val="0F172A"/>
                          </a:solidFill>
                          <a:latin typeface="Segoe UI"/>
                        </a:defRPr>
                      </a:pPr>
                      <a:r>
                        <a:t>Query Performance</a:t>
                      </a:r>
                    </a:p>
                  </a:txBody>
                  <a:tcPr>
                    <a:solidFill>
                      <a:srgbClr val="F1F5F9"/>
                    </a:solidFill>
                  </a:tcPr>
                </a:tc>
                <a:tc>
                  <a:txBody>
                    <a:bodyPr/>
                    <a:lstStyle/>
                    <a:p>
                      <a:pPr>
                        <a:defRPr sz="950">
                          <a:solidFill>
                            <a:srgbClr val="7F1D1D"/>
                          </a:solidFill>
                          <a:latin typeface="Segoe UI"/>
                        </a:defRPr>
                      </a:pPr>
                      <a:r>
                        <a:t>Index scan degrades with multi-table joins</a:t>
                      </a:r>
                    </a:p>
                  </a:txBody>
                  <a:tcPr>
                    <a:solidFill>
                      <a:srgbClr val="FEF2F2"/>
                    </a:solidFill>
                  </a:tcPr>
                </a:tc>
                <a:tc>
                  <a:txBody>
                    <a:bodyPr/>
                    <a:lstStyle/>
                    <a:p>
                      <a:pPr>
                        <a:defRPr sz="950" b="1">
                          <a:solidFill>
                            <a:srgbClr val="134E4A"/>
                          </a:solidFill>
                          <a:latin typeface="Segoe UI"/>
                        </a:defRPr>
                      </a:pPr>
                      <a:r>
                        <a:t>Multikey B-Tree indexes on array fields (&lt;2ms latency)</a:t>
                      </a:r>
                    </a:p>
                  </a:txBody>
                  <a:tcPr>
                    <a:solidFill>
                      <a:srgbClr val="F0FD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End-to-End System Architecture &amp; Data Flow</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5 / 18</a:t>
            </a:r>
          </a:p>
        </p:txBody>
      </p:sp>
      <p:sp>
        <p:nvSpPr>
          <p:cNvPr id="7" name="Rounded Rectangle 6"/>
          <p:cNvSpPr/>
          <p:nvPr/>
        </p:nvSpPr>
        <p:spPr>
          <a:xfrm>
            <a:off x="731520" y="1371600"/>
            <a:ext cx="2560320" cy="338328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256032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2560320" cy="640080"/>
          </a:xfrm>
          <a:prstGeom prst="rect">
            <a:avLst/>
          </a:prstGeom>
          <a:noFill/>
        </p:spPr>
        <p:txBody>
          <a:bodyPr wrap="none">
            <a:spAutoFit/>
          </a:bodyPr>
          <a:lstStyle/>
          <a:p>
            <a:pPr algn="ctr">
              <a:defRPr b="1" sz="1050">
                <a:solidFill>
                  <a:srgbClr val="FFFFFF"/>
                </a:solidFill>
              </a:defRPr>
            </a:pPr>
            <a:r>
              <a:t>1. Presentation Tier</a:t>
            </a:r>
          </a:p>
          <a:p>
            <a:pPr algn="ctr">
              <a:defRPr sz="900">
                <a:solidFill>
                  <a:srgbClr val="FFFFFF"/>
                </a:solidFill>
              </a:defRPr>
            </a:pPr>
            <a:r>
              <a:t>Streamlit Web UI</a:t>
            </a:r>
          </a:p>
        </p:txBody>
      </p:sp>
      <p:sp>
        <p:nvSpPr>
          <p:cNvPr id="10" name="TextBox 9"/>
          <p:cNvSpPr txBox="1"/>
          <p:nvPr/>
        </p:nvSpPr>
        <p:spPr>
          <a:xfrm>
            <a:off x="822960" y="2057400"/>
            <a:ext cx="2377440" cy="2560320"/>
          </a:xfrm>
          <a:prstGeom prst="rect">
            <a:avLst/>
          </a:prstGeom>
          <a:noFill/>
        </p:spPr>
        <p:txBody>
          <a:bodyPr wrap="square">
            <a:spAutoFit/>
          </a:bodyPr>
          <a:lstStyle/>
          <a:p>
            <a:pPr>
              <a:spcBef>
                <a:spcPts val="400"/>
              </a:spcBef>
              <a:defRPr sz="900">
                <a:solidFill>
                  <a:srgbClr val="0F172A"/>
                </a:solidFill>
              </a:defRPr>
            </a:pPr>
            <a:r>
              <a:t>• Interactive Skill Gap Lab</a:t>
            </a:r>
          </a:p>
          <a:p>
            <a:pPr>
              <a:spcBef>
                <a:spcPts val="400"/>
              </a:spcBef>
              <a:defRPr sz="900">
                <a:solidFill>
                  <a:srgbClr val="0F172A"/>
                </a:solidFill>
              </a:defRPr>
            </a:pPr>
            <a:r>
              <a:t>• Real-time PDF Upload &amp; Parse</a:t>
            </a:r>
          </a:p>
          <a:p>
            <a:pPr>
              <a:spcBef>
                <a:spcPts val="400"/>
              </a:spcBef>
              <a:defRPr sz="900">
                <a:solidFill>
                  <a:srgbClr val="0F172A"/>
                </a:solidFill>
              </a:defRPr>
            </a:pPr>
            <a:r>
              <a:t>• AI Copilot &amp; Blueprint View</a:t>
            </a:r>
          </a:p>
          <a:p>
            <a:pPr>
              <a:spcBef>
                <a:spcPts val="400"/>
              </a:spcBef>
              <a:defRPr sz="900">
                <a:solidFill>
                  <a:srgbClr val="0F172A"/>
                </a:solidFill>
              </a:defRPr>
            </a:pPr>
            <a:r>
              <a:t>• Plotly Executive Visualizations</a:t>
            </a:r>
          </a:p>
          <a:p>
            <a:pPr>
              <a:spcBef>
                <a:spcPts val="400"/>
              </a:spcBef>
              <a:defRPr sz="900">
                <a:solidFill>
                  <a:srgbClr val="0F172A"/>
                </a:solidFill>
              </a:defRPr>
            </a:pPr>
            <a:r>
              <a:t>• MongoDB Query &amp; CRUD Console</a:t>
            </a:r>
          </a:p>
        </p:txBody>
      </p:sp>
      <p:sp>
        <p:nvSpPr>
          <p:cNvPr id="11" name="Rounded Rectangle 10"/>
          <p:cNvSpPr/>
          <p:nvPr/>
        </p:nvSpPr>
        <p:spPr>
          <a:xfrm>
            <a:off x="3456432" y="1371600"/>
            <a:ext cx="2560320" cy="338328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56432" y="1371600"/>
            <a:ext cx="2560320" cy="6400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1371600"/>
            <a:ext cx="2560320" cy="640080"/>
          </a:xfrm>
          <a:prstGeom prst="rect">
            <a:avLst/>
          </a:prstGeom>
          <a:noFill/>
        </p:spPr>
        <p:txBody>
          <a:bodyPr wrap="none">
            <a:spAutoFit/>
          </a:bodyPr>
          <a:lstStyle/>
          <a:p>
            <a:pPr algn="ctr">
              <a:defRPr b="1" sz="1050">
                <a:solidFill>
                  <a:srgbClr val="FFFFFF"/>
                </a:solidFill>
              </a:defRPr>
            </a:pPr>
            <a:r>
              <a:t>2. Application Driver</a:t>
            </a:r>
          </a:p>
          <a:p>
            <a:pPr algn="ctr">
              <a:defRPr sz="900">
                <a:solidFill>
                  <a:srgbClr val="FFFFFF"/>
                </a:solidFill>
              </a:defRPr>
            </a:pPr>
            <a:r>
              <a:t>PyMongo &amp; Preprocessing</a:t>
            </a:r>
          </a:p>
        </p:txBody>
      </p:sp>
      <p:sp>
        <p:nvSpPr>
          <p:cNvPr id="14" name="TextBox 13"/>
          <p:cNvSpPr txBox="1"/>
          <p:nvPr/>
        </p:nvSpPr>
        <p:spPr>
          <a:xfrm>
            <a:off x="3547872" y="2057400"/>
            <a:ext cx="2377440" cy="2560320"/>
          </a:xfrm>
          <a:prstGeom prst="rect">
            <a:avLst/>
          </a:prstGeom>
          <a:noFill/>
        </p:spPr>
        <p:txBody>
          <a:bodyPr wrap="square">
            <a:spAutoFit/>
          </a:bodyPr>
          <a:lstStyle/>
          <a:p>
            <a:pPr>
              <a:spcBef>
                <a:spcPts val="400"/>
              </a:spcBef>
              <a:defRPr sz="900">
                <a:solidFill>
                  <a:srgbClr val="0F172A"/>
                </a:solidFill>
              </a:defRPr>
            </a:pPr>
            <a:r>
              <a:t>• Connection Pooling (50 sockets)</a:t>
            </a:r>
          </a:p>
          <a:p>
            <a:pPr>
              <a:spcBef>
                <a:spcPts val="400"/>
              </a:spcBef>
              <a:defRPr sz="900">
                <a:solidFill>
                  <a:srgbClr val="0F172A"/>
                </a:solidFill>
              </a:defRPr>
            </a:pPr>
            <a:r>
              <a:t>• RFC 3986 URI Sanitizer</a:t>
            </a:r>
          </a:p>
          <a:p>
            <a:pPr>
              <a:spcBef>
                <a:spcPts val="400"/>
              </a:spcBef>
              <a:defRPr sz="900">
                <a:solidFill>
                  <a:srgbClr val="0F172A"/>
                </a:solidFill>
              </a:defRPr>
            </a:pPr>
            <a:r>
              <a:t>• PyPDF Text Extractor</a:t>
            </a:r>
          </a:p>
          <a:p>
            <a:pPr>
              <a:spcBef>
                <a:spcPts val="400"/>
              </a:spcBef>
              <a:defRPr sz="900">
                <a:solidFill>
                  <a:srgbClr val="0F172A"/>
                </a:solidFill>
              </a:defRPr>
            </a:pPr>
            <a:r>
              <a:t>• Scikit-Learn TF-IDF Matcher</a:t>
            </a:r>
          </a:p>
          <a:p>
            <a:pPr>
              <a:spcBef>
                <a:spcPts val="400"/>
              </a:spcBef>
              <a:defRPr sz="900">
                <a:solidFill>
                  <a:srgbClr val="0F172A"/>
                </a:solidFill>
              </a:defRPr>
            </a:pPr>
            <a:r>
              <a:t>• Resilient Offline Fallback</a:t>
            </a:r>
          </a:p>
        </p:txBody>
      </p:sp>
      <p:sp>
        <p:nvSpPr>
          <p:cNvPr id="15" name="Rounded Rectangle 14"/>
          <p:cNvSpPr/>
          <p:nvPr/>
        </p:nvSpPr>
        <p:spPr>
          <a:xfrm>
            <a:off x="6181344" y="1371600"/>
            <a:ext cx="2560320" cy="33832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81344" y="1371600"/>
            <a:ext cx="2560320" cy="6400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1371600"/>
            <a:ext cx="2560320" cy="640080"/>
          </a:xfrm>
          <a:prstGeom prst="rect">
            <a:avLst/>
          </a:prstGeom>
          <a:noFill/>
        </p:spPr>
        <p:txBody>
          <a:bodyPr wrap="none">
            <a:spAutoFit/>
          </a:bodyPr>
          <a:lstStyle/>
          <a:p>
            <a:pPr algn="ctr">
              <a:defRPr b="1" sz="1050">
                <a:solidFill>
                  <a:srgbClr val="FFFFFF"/>
                </a:solidFill>
              </a:defRPr>
            </a:pPr>
            <a:r>
              <a:t>3. Database Tier</a:t>
            </a:r>
          </a:p>
          <a:p>
            <a:pPr algn="ctr">
              <a:defRPr sz="900">
                <a:solidFill>
                  <a:srgbClr val="FFFFFF"/>
                </a:solidFill>
              </a:defRPr>
            </a:pPr>
            <a:r>
              <a:t>MongoDB 7.0 / Atlas</a:t>
            </a:r>
          </a:p>
        </p:txBody>
      </p:sp>
      <p:sp>
        <p:nvSpPr>
          <p:cNvPr id="18" name="TextBox 17"/>
          <p:cNvSpPr txBox="1"/>
          <p:nvPr/>
        </p:nvSpPr>
        <p:spPr>
          <a:xfrm>
            <a:off x="6272784" y="2057400"/>
            <a:ext cx="2377440" cy="2560320"/>
          </a:xfrm>
          <a:prstGeom prst="rect">
            <a:avLst/>
          </a:prstGeom>
          <a:noFill/>
        </p:spPr>
        <p:txBody>
          <a:bodyPr wrap="square">
            <a:spAutoFit/>
          </a:bodyPr>
          <a:lstStyle/>
          <a:p>
            <a:pPr>
              <a:spcBef>
                <a:spcPts val="400"/>
              </a:spcBef>
              <a:defRPr sz="900">
                <a:solidFill>
                  <a:srgbClr val="0F172A"/>
                </a:solidFill>
              </a:defRPr>
            </a:pPr>
            <a:r>
              <a:t>• 7 Specialized Collections</a:t>
            </a:r>
          </a:p>
          <a:p>
            <a:pPr>
              <a:spcBef>
                <a:spcPts val="400"/>
              </a:spcBef>
              <a:defRPr sz="900">
                <a:solidFill>
                  <a:srgbClr val="0F172A"/>
                </a:solidFill>
              </a:defRPr>
            </a:pPr>
            <a:r>
              <a:t>• Multikey Array Indexing</a:t>
            </a:r>
          </a:p>
          <a:p>
            <a:pPr>
              <a:spcBef>
                <a:spcPts val="400"/>
              </a:spcBef>
              <a:defRPr sz="900">
                <a:solidFill>
                  <a:srgbClr val="0F172A"/>
                </a:solidFill>
              </a:defRPr>
            </a:pPr>
            <a:r>
              <a:t>• Full-Text Search Indexes</a:t>
            </a:r>
          </a:p>
          <a:p>
            <a:pPr>
              <a:spcBef>
                <a:spcPts val="400"/>
              </a:spcBef>
              <a:defRPr sz="900">
                <a:solidFill>
                  <a:srgbClr val="0F172A"/>
                </a:solidFill>
              </a:defRPr>
            </a:pPr>
            <a:r>
              <a:t>• 5 Aggregation Pipelines</a:t>
            </a:r>
          </a:p>
          <a:p>
            <a:pPr>
              <a:spcBef>
                <a:spcPts val="400"/>
              </a:spcBef>
              <a:defRPr sz="900">
                <a:solidFill>
                  <a:srgbClr val="0F172A"/>
                </a:solidFill>
              </a:defRPr>
            </a:pPr>
            <a:r>
              <a:t>• Atomic Update Operators</a:t>
            </a:r>
          </a:p>
        </p:txBody>
      </p:sp>
      <p:sp>
        <p:nvSpPr>
          <p:cNvPr id="19" name="Rounded Rectangle 18"/>
          <p:cNvSpPr/>
          <p:nvPr/>
        </p:nvSpPr>
        <p:spPr>
          <a:xfrm>
            <a:off x="8906256" y="1371600"/>
            <a:ext cx="2560320" cy="3383280"/>
          </a:xfrm>
          <a:prstGeom prst="roundRect">
            <a:avLst/>
          </a:prstGeom>
          <a:solidFill>
            <a:srgbClr val="FFFF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906256" y="1371600"/>
            <a:ext cx="2560320" cy="64008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6256" y="1371600"/>
            <a:ext cx="2560320" cy="640080"/>
          </a:xfrm>
          <a:prstGeom prst="rect">
            <a:avLst/>
          </a:prstGeom>
          <a:noFill/>
        </p:spPr>
        <p:txBody>
          <a:bodyPr wrap="none">
            <a:spAutoFit/>
          </a:bodyPr>
          <a:lstStyle/>
          <a:p>
            <a:pPr algn="ctr">
              <a:defRPr b="1" sz="1050">
                <a:solidFill>
                  <a:srgbClr val="FFFFFF"/>
                </a:solidFill>
              </a:defRPr>
            </a:pPr>
            <a:r>
              <a:t>4. AI &amp; Vector Engine</a:t>
            </a:r>
          </a:p>
          <a:p>
            <a:pPr algn="ctr">
              <a:defRPr sz="900">
                <a:solidFill>
                  <a:srgbClr val="FFFFFF"/>
                </a:solidFill>
              </a:defRPr>
            </a:pPr>
            <a:r>
              <a:t>RAG &amp; Google Gemini</a:t>
            </a:r>
          </a:p>
        </p:txBody>
      </p:sp>
      <p:sp>
        <p:nvSpPr>
          <p:cNvPr id="22" name="TextBox 21"/>
          <p:cNvSpPr txBox="1"/>
          <p:nvPr/>
        </p:nvSpPr>
        <p:spPr>
          <a:xfrm>
            <a:off x="8997696" y="2057400"/>
            <a:ext cx="2377440" cy="2560320"/>
          </a:xfrm>
          <a:prstGeom prst="rect">
            <a:avLst/>
          </a:prstGeom>
          <a:noFill/>
        </p:spPr>
        <p:txBody>
          <a:bodyPr wrap="square">
            <a:spAutoFit/>
          </a:bodyPr>
          <a:lstStyle/>
          <a:p>
            <a:pPr>
              <a:spcBef>
                <a:spcPts val="400"/>
              </a:spcBef>
              <a:defRPr sz="900">
                <a:solidFill>
                  <a:srgbClr val="0F172A"/>
                </a:solidFill>
              </a:defRPr>
            </a:pPr>
            <a:r>
              <a:t>• knowledge_vectors Collection</a:t>
            </a:r>
          </a:p>
          <a:p>
            <a:pPr>
              <a:spcBef>
                <a:spcPts val="400"/>
              </a:spcBef>
              <a:defRPr sz="900">
                <a:solidFill>
                  <a:srgbClr val="0F172A"/>
                </a:solidFill>
              </a:defRPr>
            </a:pPr>
            <a:r>
              <a:t>• 128-Dim Vector Embeddings</a:t>
            </a:r>
          </a:p>
          <a:p>
            <a:pPr>
              <a:spcBef>
                <a:spcPts val="400"/>
              </a:spcBef>
              <a:defRPr sz="900">
                <a:solidFill>
                  <a:srgbClr val="0F172A"/>
                </a:solidFill>
              </a:defRPr>
            </a:pPr>
            <a:r>
              <a:t>• Dot-Product / Cosine Similarity</a:t>
            </a:r>
          </a:p>
          <a:p>
            <a:pPr>
              <a:spcBef>
                <a:spcPts val="400"/>
              </a:spcBef>
              <a:defRPr sz="900">
                <a:solidFill>
                  <a:srgbClr val="0F172A"/>
                </a:solidFill>
              </a:defRPr>
            </a:pPr>
            <a:r>
              <a:t>• Context Grounding Prompt</a:t>
            </a:r>
          </a:p>
          <a:p>
            <a:pPr>
              <a:spcBef>
                <a:spcPts val="400"/>
              </a:spcBef>
              <a:defRPr sz="900">
                <a:solidFill>
                  <a:srgbClr val="0F172A"/>
                </a:solidFill>
              </a:defRPr>
            </a:pPr>
            <a:r>
              <a:t>• Gemini 2.5 Flash Synthesis</a:t>
            </a:r>
          </a:p>
        </p:txBody>
      </p:sp>
      <p:sp>
        <p:nvSpPr>
          <p:cNvPr id="23" name="Rounded Rectangle 22"/>
          <p:cNvSpPr/>
          <p:nvPr/>
        </p:nvSpPr>
        <p:spPr>
          <a:xfrm>
            <a:off x="731520" y="4937760"/>
            <a:ext cx="10728655" cy="128016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983480"/>
            <a:ext cx="10362895" cy="1188720"/>
          </a:xfrm>
          <a:prstGeom prst="rect">
            <a:avLst/>
          </a:prstGeom>
          <a:noFill/>
        </p:spPr>
        <p:txBody>
          <a:bodyPr wrap="none">
            <a:spAutoFit/>
          </a:bodyPr>
          <a:lstStyle/>
          <a:p>
            <a:pPr>
              <a:defRPr b="1" sz="1100">
                <a:solidFill>
                  <a:srgbClr val="2563EB"/>
                </a:solidFill>
              </a:defRPr>
            </a:pPr>
            <a:r>
              <a:t>Live Execution Flow (From Resume Upload to AI Blueprint Generation):</a:t>
            </a:r>
          </a:p>
          <a:p>
            <a:pPr>
              <a:spcBef>
                <a:spcPts val="300"/>
              </a:spcBef>
              <a:defRPr sz="950" b="1">
                <a:solidFill>
                  <a:srgbClr val="0D9488"/>
                </a:solidFill>
                <a:latin typeface="Consolas"/>
              </a:defRPr>
            </a:pPr>
            <a:r>
              <a:t>[1. Upload PDF Resume] -&gt; [2. PyPDF Extraction &amp; Normalization] -&gt; [3. Dual-Metric Gap Scoring (70% Skill + 30% TF-IDF)] -&gt; [4. MongoDB Persistence (analyses collection)] -&gt; [5. Vector Retrieval (knowledge_vectors Cosine Sim)] -&gt; [6. Google Gemini Grounded Synthesis (3-Week Plan &amp;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Database Architecture: 7 Functional Collections</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6 / 18</a:t>
            </a:r>
          </a:p>
        </p:txBody>
      </p:sp>
      <p:graphicFrame>
        <p:nvGraphicFramePr>
          <p:cNvPr id="7" name="Table 6"/>
          <p:cNvGraphicFramePr>
            <a:graphicFrameLocks noGrp="1"/>
          </p:cNvGraphicFramePr>
          <p:nvPr/>
        </p:nvGraphicFramePr>
        <p:xfrm>
          <a:off x="731520" y="1371600"/>
          <a:ext cx="10728655" cy="3931920"/>
        </p:xfrm>
        <a:graphic>
          <a:graphicData uri="http://schemas.openxmlformats.org/drawingml/2006/table">
            <a:tbl>
              <a:tblPr firstRow="1" bandRow="1">
                <a:tableStyleId>{5C22544A-7EE6-4342-B048-85BDC9FD1C3A}</a:tableStyleId>
              </a:tblPr>
              <a:tblGrid>
                <a:gridCol w="1645920"/>
                <a:gridCol w="1463040"/>
                <a:gridCol w="2011680"/>
                <a:gridCol w="2103120"/>
                <a:gridCol w="3504895"/>
              </a:tblGrid>
              <a:tr h="491490">
                <a:tc>
                  <a:txBody>
                    <a:bodyPr/>
                    <a:lstStyle/>
                    <a:p>
                      <a:pPr>
                        <a:defRPr sz="950" b="1">
                          <a:solidFill>
                            <a:srgbClr val="FFFFFF"/>
                          </a:solidFill>
                          <a:latin typeface="Segoe UI"/>
                        </a:defRPr>
                      </a:pPr>
                      <a:r>
                        <a:t>Collection</a:t>
                      </a:r>
                    </a:p>
                  </a:txBody>
                  <a:tcPr>
                    <a:solidFill>
                      <a:srgbClr val="2563EB"/>
                    </a:solidFill>
                  </a:tcPr>
                </a:tc>
                <a:tc>
                  <a:txBody>
                    <a:bodyPr/>
                    <a:lstStyle/>
                    <a:p>
                      <a:pPr>
                        <a:defRPr sz="950" b="1">
                          <a:solidFill>
                            <a:srgbClr val="FFFFFF"/>
                          </a:solidFill>
                          <a:latin typeface="Segoe UI"/>
                        </a:defRPr>
                      </a:pPr>
                      <a:r>
                        <a:t>Type / Role</a:t>
                      </a:r>
                    </a:p>
                  </a:txBody>
                  <a:tcPr>
                    <a:solidFill>
                      <a:srgbClr val="2563EB"/>
                    </a:solidFill>
                  </a:tcPr>
                </a:tc>
                <a:tc>
                  <a:txBody>
                    <a:bodyPr/>
                    <a:lstStyle/>
                    <a:p>
                      <a:pPr>
                        <a:defRPr sz="950" b="1">
                          <a:solidFill>
                            <a:srgbClr val="FFFFFF"/>
                          </a:solidFill>
                          <a:latin typeface="Segoe UI"/>
                        </a:defRPr>
                      </a:pPr>
                      <a:r>
                        <a:t>Relationship Pattern</a:t>
                      </a:r>
                    </a:p>
                  </a:txBody>
                  <a:tcPr>
                    <a:solidFill>
                      <a:srgbClr val="2563EB"/>
                    </a:solidFill>
                  </a:tcPr>
                </a:tc>
                <a:tc>
                  <a:txBody>
                    <a:bodyPr/>
                    <a:lstStyle/>
                    <a:p>
                      <a:pPr>
                        <a:defRPr sz="950" b="1">
                          <a:solidFill>
                            <a:srgbClr val="FFFFFF"/>
                          </a:solidFill>
                          <a:latin typeface="Segoe UI"/>
                        </a:defRPr>
                      </a:pPr>
                      <a:r>
                        <a:t>Primary Key / Indexes</a:t>
                      </a:r>
                    </a:p>
                  </a:txBody>
                  <a:tcPr>
                    <a:solidFill>
                      <a:srgbClr val="2563EB"/>
                    </a:solidFill>
                  </a:tcPr>
                </a:tc>
                <a:tc>
                  <a:txBody>
                    <a:bodyPr/>
                    <a:lstStyle/>
                    <a:p>
                      <a:pPr>
                        <a:defRPr sz="950" b="1">
                          <a:solidFill>
                            <a:srgbClr val="FFFFFF"/>
                          </a:solidFill>
                          <a:latin typeface="Segoe UI"/>
                        </a:defRPr>
                      </a:pPr>
                      <a:r>
                        <a:t>Stored Entities &amp; Purpose</a:t>
                      </a:r>
                    </a:p>
                  </a:txBody>
                  <a:tcPr>
                    <a:solidFill>
                      <a:srgbClr val="2563EB"/>
                    </a:solidFill>
                  </a:tcPr>
                </a:tc>
              </a:tr>
              <a:tr h="491490">
                <a:tc>
                  <a:txBody>
                    <a:bodyPr/>
                    <a:lstStyle/>
                    <a:p>
                      <a:pPr>
                        <a:defRPr sz="850" b="1">
                          <a:solidFill>
                            <a:srgbClr val="2563EB"/>
                          </a:solidFill>
                          <a:latin typeface="Segoe UI"/>
                        </a:defRPr>
                      </a:pPr>
                      <a:r>
                        <a:t>users</a:t>
                      </a:r>
                    </a:p>
                  </a:txBody>
                  <a:tcPr>
                    <a:solidFill>
                      <a:srgbClr val="F1F5F9"/>
                    </a:solidFill>
                  </a:tcPr>
                </a:tc>
                <a:tc>
                  <a:txBody>
                    <a:bodyPr/>
                    <a:lstStyle/>
                    <a:p>
                      <a:pPr>
                        <a:defRPr sz="850">
                          <a:solidFill>
                            <a:srgbClr val="0F172A"/>
                          </a:solidFill>
                          <a:latin typeface="Segoe UI"/>
                        </a:defRPr>
                      </a:pPr>
                      <a:r>
                        <a:t>Master Data</a:t>
                      </a:r>
                    </a:p>
                  </a:txBody>
                  <a:tcPr>
                    <a:solidFill>
                      <a:srgbClr val="F8FAFC"/>
                    </a:solidFill>
                  </a:tcPr>
                </a:tc>
                <a:tc>
                  <a:txBody>
                    <a:bodyPr/>
                    <a:lstStyle/>
                    <a:p>
                      <a:pPr>
                        <a:defRPr sz="850">
                          <a:solidFill>
                            <a:srgbClr val="0F172A"/>
                          </a:solidFill>
                          <a:latin typeface="Segoe UI"/>
                        </a:defRPr>
                      </a:pPr>
                      <a:r>
                        <a:t>Referenced by resumes &amp; analyses</a:t>
                      </a:r>
                    </a:p>
                  </a:txBody>
                  <a:tcPr>
                    <a:solidFill>
                      <a:srgbClr val="F8FAFC"/>
                    </a:solidFill>
                  </a:tcPr>
                </a:tc>
                <a:tc>
                  <a:txBody>
                    <a:bodyPr/>
                    <a:lstStyle/>
                    <a:p>
                      <a:pPr>
                        <a:defRPr sz="850">
                          <a:solidFill>
                            <a:srgbClr val="0F172A"/>
                          </a:solidFill>
                          <a:latin typeface="Segoe UI"/>
                        </a:defRPr>
                      </a:pPr>
                      <a:r>
                        <a:t>user_id (Unique), email (Sparse)</a:t>
                      </a:r>
                    </a:p>
                  </a:txBody>
                  <a:tcPr>
                    <a:solidFill>
                      <a:srgbClr val="F8FAFC"/>
                    </a:solidFill>
                  </a:tcPr>
                </a:tc>
                <a:tc>
                  <a:txBody>
                    <a:bodyPr/>
                    <a:lstStyle/>
                    <a:p>
                      <a:pPr>
                        <a:defRPr sz="850">
                          <a:solidFill>
                            <a:srgbClr val="0F172A"/>
                          </a:solidFill>
                          <a:latin typeface="Segoe UI"/>
                        </a:defRPr>
                      </a:pPr>
                      <a:r>
                        <a:t>Candidate demographics, education, experience, skill string array</a:t>
                      </a:r>
                    </a:p>
                  </a:txBody>
                  <a:tcPr>
                    <a:solidFill>
                      <a:srgbClr val="F8FAFC"/>
                    </a:solidFill>
                  </a:tcPr>
                </a:tc>
              </a:tr>
              <a:tr h="491490">
                <a:tc>
                  <a:txBody>
                    <a:bodyPr/>
                    <a:lstStyle/>
                    <a:p>
                      <a:pPr>
                        <a:defRPr sz="850" b="1">
                          <a:solidFill>
                            <a:srgbClr val="2563EB"/>
                          </a:solidFill>
                          <a:latin typeface="Segoe UI"/>
                        </a:defRPr>
                      </a:pPr>
                      <a:r>
                        <a:t>resumes</a:t>
                      </a:r>
                    </a:p>
                  </a:txBody>
                  <a:tcPr>
                    <a:solidFill>
                      <a:srgbClr val="F1F5F9"/>
                    </a:solidFill>
                  </a:tcPr>
                </a:tc>
                <a:tc>
                  <a:txBody>
                    <a:bodyPr/>
                    <a:lstStyle/>
                    <a:p>
                      <a:pPr>
                        <a:defRPr sz="850">
                          <a:solidFill>
                            <a:srgbClr val="0F172A"/>
                          </a:solidFill>
                          <a:latin typeface="Segoe UI"/>
                        </a:defRPr>
                      </a:pPr>
                      <a:r>
                        <a:t>Semi-Structured</a:t>
                      </a:r>
                    </a:p>
                  </a:txBody>
                  <a:tcPr>
                    <a:solidFill>
                      <a:srgbClr val="FFFFFF"/>
                    </a:solidFill>
                  </a:tcPr>
                </a:tc>
                <a:tc>
                  <a:txBody>
                    <a:bodyPr/>
                    <a:lstStyle/>
                    <a:p>
                      <a:pPr>
                        <a:defRPr sz="850">
                          <a:solidFill>
                            <a:srgbClr val="0F172A"/>
                          </a:solidFill>
                          <a:latin typeface="Segoe UI"/>
                        </a:defRPr>
                      </a:pPr>
                      <a:r>
                        <a:t>1-to-1 Reference to users</a:t>
                      </a:r>
                    </a:p>
                  </a:txBody>
                  <a:tcPr>
                    <a:solidFill>
                      <a:srgbClr val="FFFFFF"/>
                    </a:solidFill>
                  </a:tcPr>
                </a:tc>
                <a:tc>
                  <a:txBody>
                    <a:bodyPr/>
                    <a:lstStyle/>
                    <a:p>
                      <a:pPr>
                        <a:defRPr sz="850">
                          <a:solidFill>
                            <a:srgbClr val="0F172A"/>
                          </a:solidFill>
                          <a:latin typeface="Segoe UI"/>
                        </a:defRPr>
                      </a:pPr>
                      <a:r>
                        <a:t>resume_id, skills (Multikey)</a:t>
                      </a:r>
                    </a:p>
                  </a:txBody>
                  <a:tcPr>
                    <a:solidFill>
                      <a:srgbClr val="FFFFFF"/>
                    </a:solidFill>
                  </a:tcPr>
                </a:tc>
                <a:tc>
                  <a:txBody>
                    <a:bodyPr/>
                    <a:lstStyle/>
                    <a:p>
                      <a:pPr>
                        <a:defRPr sz="850">
                          <a:solidFill>
                            <a:srgbClr val="0F172A"/>
                          </a:solidFill>
                          <a:latin typeface="Segoe UI"/>
                        </a:defRPr>
                      </a:pPr>
                      <a:r>
                        <a:t>Parsed resume text, extracted skills, embedded projects array</a:t>
                      </a:r>
                    </a:p>
                  </a:txBody>
                  <a:tcPr>
                    <a:solidFill>
                      <a:srgbClr val="FFFFFF"/>
                    </a:solidFill>
                  </a:tcPr>
                </a:tc>
              </a:tr>
              <a:tr h="491490">
                <a:tc>
                  <a:txBody>
                    <a:bodyPr/>
                    <a:lstStyle/>
                    <a:p>
                      <a:pPr>
                        <a:defRPr sz="850" b="1">
                          <a:solidFill>
                            <a:srgbClr val="2563EB"/>
                          </a:solidFill>
                          <a:latin typeface="Segoe UI"/>
                        </a:defRPr>
                      </a:pPr>
                      <a:r>
                        <a:t>jobs</a:t>
                      </a:r>
                    </a:p>
                  </a:txBody>
                  <a:tcPr>
                    <a:solidFill>
                      <a:srgbClr val="F1F5F9"/>
                    </a:solidFill>
                  </a:tcPr>
                </a:tc>
                <a:tc>
                  <a:txBody>
                    <a:bodyPr/>
                    <a:lstStyle/>
                    <a:p>
                      <a:pPr>
                        <a:defRPr sz="850">
                          <a:solidFill>
                            <a:srgbClr val="0F172A"/>
                          </a:solidFill>
                          <a:latin typeface="Segoe UI"/>
                        </a:defRPr>
                      </a:pPr>
                      <a:r>
                        <a:t>Master Catalog</a:t>
                      </a:r>
                    </a:p>
                  </a:txBody>
                  <a:tcPr>
                    <a:solidFill>
                      <a:srgbClr val="F8FAFC"/>
                    </a:solidFill>
                  </a:tcPr>
                </a:tc>
                <a:tc>
                  <a:txBody>
                    <a:bodyPr/>
                    <a:lstStyle/>
                    <a:p>
                      <a:pPr>
                        <a:defRPr sz="850">
                          <a:solidFill>
                            <a:srgbClr val="0F172A"/>
                          </a:solidFill>
                          <a:latin typeface="Segoe UI"/>
                        </a:defRPr>
                      </a:pPr>
                      <a:r>
                        <a:t>Referenced by analyses</a:t>
                      </a:r>
                    </a:p>
                  </a:txBody>
                  <a:tcPr>
                    <a:solidFill>
                      <a:srgbClr val="F8FAFC"/>
                    </a:solidFill>
                  </a:tcPr>
                </a:tc>
                <a:tc>
                  <a:txBody>
                    <a:bodyPr/>
                    <a:lstStyle/>
                    <a:p>
                      <a:pPr>
                        <a:defRPr sz="850">
                          <a:solidFill>
                            <a:srgbClr val="0F172A"/>
                          </a:solidFill>
                          <a:latin typeface="Segoe UI"/>
                        </a:defRPr>
                      </a:pPr>
                      <a:r>
                        <a:t>job_id (Unique), required_skills (Multikey)</a:t>
                      </a:r>
                    </a:p>
                  </a:txBody>
                  <a:tcPr>
                    <a:solidFill>
                      <a:srgbClr val="F8FAFC"/>
                    </a:solidFill>
                  </a:tcPr>
                </a:tc>
                <a:tc>
                  <a:txBody>
                    <a:bodyPr/>
                    <a:lstStyle/>
                    <a:p>
                      <a:pPr>
                        <a:defRPr sz="850">
                          <a:solidFill>
                            <a:srgbClr val="0F172A"/>
                          </a:solidFill>
                          <a:latin typeface="Segoe UI"/>
                        </a:defRPr>
                      </a:pPr>
                      <a:r>
                        <a:t>Job openings, roles, minimum salary, text index on title/company</a:t>
                      </a:r>
                    </a:p>
                  </a:txBody>
                  <a:tcPr>
                    <a:solidFill>
                      <a:srgbClr val="F8FAFC"/>
                    </a:solidFill>
                  </a:tcPr>
                </a:tc>
              </a:tr>
              <a:tr h="491490">
                <a:tc>
                  <a:txBody>
                    <a:bodyPr/>
                    <a:lstStyle/>
                    <a:p>
                      <a:pPr>
                        <a:defRPr sz="850" b="1">
                          <a:solidFill>
                            <a:srgbClr val="2563EB"/>
                          </a:solidFill>
                          <a:latin typeface="Segoe UI"/>
                        </a:defRPr>
                      </a:pPr>
                      <a:r>
                        <a:t>skills</a:t>
                      </a:r>
                    </a:p>
                  </a:txBody>
                  <a:tcPr>
                    <a:solidFill>
                      <a:srgbClr val="F1F5F9"/>
                    </a:solidFill>
                  </a:tcPr>
                </a:tc>
                <a:tc>
                  <a:txBody>
                    <a:bodyPr/>
                    <a:lstStyle/>
                    <a:p>
                      <a:pPr>
                        <a:defRPr sz="850">
                          <a:solidFill>
                            <a:srgbClr val="0F172A"/>
                          </a:solidFill>
                          <a:latin typeface="Segoe UI"/>
                        </a:defRPr>
                      </a:pPr>
                      <a:r>
                        <a:t>Canonical Catalog</a:t>
                      </a:r>
                    </a:p>
                  </a:txBody>
                  <a:tcPr>
                    <a:solidFill>
                      <a:srgbClr val="FFFFFF"/>
                    </a:solidFill>
                  </a:tcPr>
                </a:tc>
                <a:tc>
                  <a:txBody>
                    <a:bodyPr/>
                    <a:lstStyle/>
                    <a:p>
                      <a:pPr>
                        <a:defRPr sz="850">
                          <a:solidFill>
                            <a:srgbClr val="0F172A"/>
                          </a:solidFill>
                          <a:latin typeface="Segoe UI"/>
                        </a:defRPr>
                      </a:pPr>
                      <a:r>
                        <a:t>Referenced by name</a:t>
                      </a:r>
                    </a:p>
                  </a:txBody>
                  <a:tcPr>
                    <a:solidFill>
                      <a:srgbClr val="FFFFFF"/>
                    </a:solidFill>
                  </a:tcPr>
                </a:tc>
                <a:tc>
                  <a:txBody>
                    <a:bodyPr/>
                    <a:lstStyle/>
                    <a:p>
                      <a:pPr>
                        <a:defRPr sz="850">
                          <a:solidFill>
                            <a:srgbClr val="0F172A"/>
                          </a:solidFill>
                          <a:latin typeface="Segoe UI"/>
                        </a:defRPr>
                      </a:pPr>
                      <a:r>
                        <a:t>skill_id (Unique), name (Unique)</a:t>
                      </a:r>
                    </a:p>
                  </a:txBody>
                  <a:tcPr>
                    <a:solidFill>
                      <a:srgbClr val="FFFFFF"/>
                    </a:solidFill>
                  </a:tcPr>
                </a:tc>
                <a:tc>
                  <a:txBody>
                    <a:bodyPr/>
                    <a:lstStyle/>
                    <a:p>
                      <a:pPr>
                        <a:defRPr sz="850">
                          <a:solidFill>
                            <a:srgbClr val="0F172A"/>
                          </a:solidFill>
                          <a:latin typeface="Segoe UI"/>
                        </a:defRPr>
                      </a:pPr>
                      <a:r>
                        <a:t>30+ standardized tech skills categorized by discipline</a:t>
                      </a:r>
                    </a:p>
                  </a:txBody>
                  <a:tcPr>
                    <a:solidFill>
                      <a:srgbClr val="FFFFFF"/>
                    </a:solidFill>
                  </a:tcPr>
                </a:tc>
              </a:tr>
              <a:tr h="491490">
                <a:tc>
                  <a:txBody>
                    <a:bodyPr/>
                    <a:lstStyle/>
                    <a:p>
                      <a:pPr>
                        <a:defRPr sz="850" b="1">
                          <a:solidFill>
                            <a:srgbClr val="2563EB"/>
                          </a:solidFill>
                          <a:latin typeface="Segoe UI"/>
                        </a:defRPr>
                      </a:pPr>
                      <a:r>
                        <a:t>analyses</a:t>
                      </a:r>
                    </a:p>
                  </a:txBody>
                  <a:tcPr>
                    <a:solidFill>
                      <a:srgbClr val="F1F5F9"/>
                    </a:solidFill>
                  </a:tcPr>
                </a:tc>
                <a:tc>
                  <a:txBody>
                    <a:bodyPr/>
                    <a:lstStyle/>
                    <a:p>
                      <a:pPr>
                        <a:defRPr sz="850">
                          <a:solidFill>
                            <a:srgbClr val="0F172A"/>
                          </a:solidFill>
                          <a:latin typeface="Segoe UI"/>
                        </a:defRPr>
                      </a:pPr>
                      <a:r>
                        <a:t>Transactional Log</a:t>
                      </a:r>
                    </a:p>
                  </a:txBody>
                  <a:tcPr>
                    <a:solidFill>
                      <a:srgbClr val="F8FAFC"/>
                    </a:solidFill>
                  </a:tcPr>
                </a:tc>
                <a:tc>
                  <a:txBody>
                    <a:bodyPr/>
                    <a:lstStyle/>
                    <a:p>
                      <a:pPr>
                        <a:defRPr sz="850">
                          <a:solidFill>
                            <a:srgbClr val="0F172A"/>
                          </a:solidFill>
                          <a:latin typeface="Segoe UI"/>
                        </a:defRPr>
                      </a:pPr>
                      <a:r>
                        <a:t>References users &amp; jobs</a:t>
                      </a:r>
                    </a:p>
                  </a:txBody>
                  <a:tcPr>
                    <a:solidFill>
                      <a:srgbClr val="F8FAFC"/>
                    </a:solidFill>
                  </a:tcPr>
                </a:tc>
                <a:tc>
                  <a:txBody>
                    <a:bodyPr/>
                    <a:lstStyle/>
                    <a:p>
                      <a:pPr>
                        <a:defRPr sz="850">
                          <a:solidFill>
                            <a:srgbClr val="0F172A"/>
                          </a:solidFill>
                          <a:latin typeface="Segoe UI"/>
                        </a:defRPr>
                      </a:pPr>
                      <a:r>
                        <a:t>analysis_id, match_score</a:t>
                      </a:r>
                    </a:p>
                  </a:txBody>
                  <a:tcPr>
                    <a:solidFill>
                      <a:srgbClr val="F8FAFC"/>
                    </a:solidFill>
                  </a:tcPr>
                </a:tc>
                <a:tc>
                  <a:txBody>
                    <a:bodyPr/>
                    <a:lstStyle/>
                    <a:p>
                      <a:pPr>
                        <a:defRPr sz="850">
                          <a:solidFill>
                            <a:srgbClr val="0F172A"/>
                          </a:solidFill>
                          <a:latin typeface="Segoe UI"/>
                        </a:defRPr>
                      </a:pPr>
                      <a:r>
                        <a:t>Historical gap evaluations, matched skills, missing skills, scores</a:t>
                      </a:r>
                    </a:p>
                  </a:txBody>
                  <a:tcPr>
                    <a:solidFill>
                      <a:srgbClr val="F8FAFC"/>
                    </a:solidFill>
                  </a:tcPr>
                </a:tc>
              </a:tr>
              <a:tr h="491490">
                <a:tc>
                  <a:txBody>
                    <a:bodyPr/>
                    <a:lstStyle/>
                    <a:p>
                      <a:pPr>
                        <a:defRPr sz="850" b="1">
                          <a:solidFill>
                            <a:srgbClr val="2563EB"/>
                          </a:solidFill>
                          <a:latin typeface="Segoe UI"/>
                        </a:defRPr>
                      </a:pPr>
                      <a:r>
                        <a:t>recommendations</a:t>
                      </a:r>
                    </a:p>
                  </a:txBody>
                  <a:tcPr>
                    <a:solidFill>
                      <a:srgbClr val="F1F5F9"/>
                    </a:solidFill>
                  </a:tcPr>
                </a:tc>
                <a:tc>
                  <a:txBody>
                    <a:bodyPr/>
                    <a:lstStyle/>
                    <a:p>
                      <a:pPr>
                        <a:defRPr sz="850">
                          <a:solidFill>
                            <a:srgbClr val="0F172A"/>
                          </a:solidFill>
                          <a:latin typeface="Segoe UI"/>
                        </a:defRPr>
                      </a:pPr>
                      <a:r>
                        <a:t>Knowledge Base</a:t>
                      </a:r>
                    </a:p>
                  </a:txBody>
                  <a:tcPr>
                    <a:solidFill>
                      <a:srgbClr val="FFFFFF"/>
                    </a:solidFill>
                  </a:tcPr>
                </a:tc>
                <a:tc>
                  <a:txBody>
                    <a:bodyPr/>
                    <a:lstStyle/>
                    <a:p>
                      <a:pPr>
                        <a:defRPr sz="850">
                          <a:solidFill>
                            <a:srgbClr val="0F172A"/>
                          </a:solidFill>
                          <a:latin typeface="Segoe UI"/>
                        </a:defRPr>
                      </a:pPr>
                      <a:r>
                        <a:t>Keyed on skill name</a:t>
                      </a:r>
                    </a:p>
                  </a:txBody>
                  <a:tcPr>
                    <a:solidFill>
                      <a:srgbClr val="FFFFFF"/>
                    </a:solidFill>
                  </a:tcPr>
                </a:tc>
                <a:tc>
                  <a:txBody>
                    <a:bodyPr/>
                    <a:lstStyle/>
                    <a:p>
                      <a:pPr>
                        <a:defRPr sz="850">
                          <a:solidFill>
                            <a:srgbClr val="0F172A"/>
                          </a:solidFill>
                          <a:latin typeface="Segoe UI"/>
                        </a:defRPr>
                      </a:pPr>
                      <a:r>
                        <a:t>rec_id, skill_name</a:t>
                      </a:r>
                    </a:p>
                  </a:txBody>
                  <a:tcPr>
                    <a:solidFill>
                      <a:srgbClr val="FFFFFF"/>
                    </a:solidFill>
                  </a:tcPr>
                </a:tc>
                <a:tc>
                  <a:txBody>
                    <a:bodyPr/>
                    <a:lstStyle/>
                    <a:p>
                      <a:pPr>
                        <a:defRPr sz="850">
                          <a:solidFill>
                            <a:srgbClr val="0F172A"/>
                          </a:solidFill>
                          <a:latin typeface="Segoe UI"/>
                        </a:defRPr>
                      </a:pPr>
                      <a:r>
                        <a:t>Targeted courses, duration, learning platforms, priority tiers</a:t>
                      </a:r>
                    </a:p>
                  </a:txBody>
                  <a:tcPr>
                    <a:solidFill>
                      <a:srgbClr val="FFFFFF"/>
                    </a:solidFill>
                  </a:tcPr>
                </a:tc>
              </a:tr>
              <a:tr h="491490">
                <a:tc>
                  <a:txBody>
                    <a:bodyPr/>
                    <a:lstStyle/>
                    <a:p>
                      <a:pPr>
                        <a:defRPr sz="850" b="1">
                          <a:solidFill>
                            <a:srgbClr val="2563EB"/>
                          </a:solidFill>
                          <a:latin typeface="Segoe UI"/>
                        </a:defRPr>
                      </a:pPr>
                      <a:r>
                        <a:t>knowledge_vectors</a:t>
                      </a:r>
                    </a:p>
                  </a:txBody>
                  <a:tcPr>
                    <a:solidFill>
                      <a:srgbClr val="F1F5F9"/>
                    </a:solidFill>
                  </a:tcPr>
                </a:tc>
                <a:tc>
                  <a:txBody>
                    <a:bodyPr/>
                    <a:lstStyle/>
                    <a:p>
                      <a:pPr>
                        <a:defRPr sz="850">
                          <a:solidFill>
                            <a:srgbClr val="0F172A"/>
                          </a:solidFill>
                          <a:latin typeface="Segoe UI"/>
                        </a:defRPr>
                      </a:pPr>
                      <a:r>
                        <a:t>Dense Vector Store</a:t>
                      </a:r>
                    </a:p>
                  </a:txBody>
                  <a:tcPr>
                    <a:solidFill>
                      <a:srgbClr val="F8FAFC"/>
                    </a:solidFill>
                  </a:tcPr>
                </a:tc>
                <a:tc>
                  <a:txBody>
                    <a:bodyPr/>
                    <a:lstStyle/>
                    <a:p>
                      <a:pPr>
                        <a:defRPr sz="850">
                          <a:solidFill>
                            <a:srgbClr val="0F172A"/>
                          </a:solidFill>
                          <a:latin typeface="Segoe UI"/>
                        </a:defRPr>
                      </a:pPr>
                      <a:r>
                        <a:t>Stand-alone Knowledge Bank</a:t>
                      </a:r>
                    </a:p>
                  </a:txBody>
                  <a:tcPr>
                    <a:solidFill>
                      <a:srgbClr val="F8FAFC"/>
                    </a:solidFill>
                  </a:tcPr>
                </a:tc>
                <a:tc>
                  <a:txBody>
                    <a:bodyPr/>
                    <a:lstStyle/>
                    <a:p>
                      <a:pPr>
                        <a:defRPr sz="850">
                          <a:solidFill>
                            <a:srgbClr val="0F172A"/>
                          </a:solidFill>
                          <a:latin typeface="Segoe UI"/>
                        </a:defRPr>
                      </a:pPr>
                      <a:r>
                        <a:t>doc_id (Unique), category</a:t>
                      </a:r>
                    </a:p>
                  </a:txBody>
                  <a:tcPr>
                    <a:solidFill>
                      <a:srgbClr val="F8FAFC"/>
                    </a:solidFill>
                  </a:tcPr>
                </a:tc>
                <a:tc>
                  <a:txBody>
                    <a:bodyPr/>
                    <a:lstStyle/>
                    <a:p>
                      <a:pPr>
                        <a:defRPr sz="850">
                          <a:solidFill>
                            <a:srgbClr val="0F172A"/>
                          </a:solidFill>
                          <a:latin typeface="Segoe UI"/>
                        </a:defRPr>
                      </a:pPr>
                      <a:r>
                        <a:t>Curriculum chunks + 128-dim dense embeddings for RAG retrieval</a:t>
                      </a:r>
                    </a:p>
                  </a:txBody>
                  <a:tcPr>
                    <a:solidFill>
                      <a:srgbClr val="F8FAFC"/>
                    </a:solidFill>
                  </a:tcPr>
                </a:tc>
              </a:tr>
            </a:tbl>
          </a:graphicData>
        </a:graphic>
      </p:graphicFrame>
      <p:sp>
        <p:nvSpPr>
          <p:cNvPr id="8" name="Rounded Rectangle 7"/>
          <p:cNvSpPr/>
          <p:nvPr/>
        </p:nvSpPr>
        <p:spPr>
          <a:xfrm>
            <a:off x="731520" y="5440680"/>
            <a:ext cx="10728655" cy="82296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86400"/>
            <a:ext cx="10362895" cy="731520"/>
          </a:xfrm>
          <a:prstGeom prst="rect">
            <a:avLst/>
          </a:prstGeom>
          <a:noFill/>
        </p:spPr>
        <p:txBody>
          <a:bodyPr wrap="none">
            <a:spAutoFit/>
          </a:bodyPr>
          <a:lstStyle/>
          <a:p>
            <a:pPr>
              <a:defRPr b="1" sz="1050">
                <a:solidFill>
                  <a:srgbClr val="0D9488"/>
                </a:solidFill>
              </a:defRPr>
            </a:pPr>
            <a:r>
              <a:t>Architectural Decision: Embedding vs. Referencing Strategy</a:t>
            </a:r>
          </a:p>
          <a:p>
            <a:pPr>
              <a:defRPr sz="900">
                <a:solidFill>
                  <a:srgbClr val="0F172A"/>
                </a:solidFill>
              </a:defRPr>
            </a:pPr>
            <a:r>
              <a:t>• EMBEDDING: Projects are embedded inside resumes because they are always loaded together and have a bounded 1-to-few relationship.</a:t>
            </a:r>
            <a:br/>
            <a:r>
              <a:t>• REFERENCING: jobs and users are referenced via integer IDs inside analyses to avoid duplicating large job specs across thousands of evaluations.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Document Data Modeling: BSON Schemas &amp; Design Patterns</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7 / 18</a:t>
            </a:r>
          </a:p>
        </p:txBody>
      </p:sp>
      <p:sp>
        <p:nvSpPr>
          <p:cNvPr id="7" name="Rounded Rectangle 6"/>
          <p:cNvSpPr/>
          <p:nvPr/>
        </p:nvSpPr>
        <p:spPr>
          <a:xfrm>
            <a:off x="731520" y="1371600"/>
            <a:ext cx="5257800" cy="4846320"/>
          </a:xfrm>
          <a:prstGeom prst="roundRect">
            <a:avLst/>
          </a:prstGeom>
          <a:solidFill>
            <a:srgbClr val="1820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4892040" cy="4663440"/>
          </a:xfrm>
          <a:prstGeom prst="rect">
            <a:avLst/>
          </a:prstGeom>
          <a:noFill/>
        </p:spPr>
        <p:txBody>
          <a:bodyPr wrap="square">
            <a:spAutoFit/>
          </a:bodyPr>
          <a:lstStyle/>
          <a:p>
            <a:pPr>
              <a:defRPr sz="850">
                <a:solidFill>
                  <a:srgbClr val="38BDF8"/>
                </a:solidFill>
                <a:latin typeface="Consolas"/>
              </a:defRPr>
            </a:pPr>
            <a:r>
              <a:t>// Document in 'users' collection (Native Array)</a:t>
            </a:r>
          </a:p>
          <a:p>
            <a:pPr>
              <a:defRPr sz="800">
                <a:solidFill>
                  <a:srgbClr val="E2E8F0"/>
                </a:solidFill>
                <a:latin typeface="Consolas"/>
              </a:defRPr>
            </a:pPr>
            <a:r>
              <a:t>{</a:t>
            </a:r>
            <a:br/>
            <a:r>
              <a:t>  "_id": ObjectId("65342a1ef82d9a10bc931001"),</a:t>
            </a:r>
            <a:br/>
            <a:r>
              <a:t>  "user_id": 101,</a:t>
            </a:r>
            <a:br/>
            <a:r>
              <a:t>  "name": "Shashank Verma",</a:t>
            </a:r>
            <a:br/>
            <a:r>
              <a:t>  "email": "shashank.verma@example.com",</a:t>
            </a:r>
            <a:br/>
            <a:r>
              <a:t>  "experience_years": 2,</a:t>
            </a:r>
            <a:br/>
            <a:r>
              <a:t>  "skills": ["Python", "SQL", "Pandas", "Scikit-Learn"],</a:t>
            </a:r>
            <a:br/>
            <a:r>
              <a:t>  "created_at": ISODate("2026-10-21T10:00:00Z")</a:t>
            </a:r>
            <a:br/>
            <a:r>
              <a:t>}</a:t>
            </a:r>
            <a:br/>
            <a:br/>
            <a:r>
              <a:t>// Document in 'resumes' collection (Embedded Subdocuments)</a:t>
            </a:r>
            <a:br/>
            <a:r>
              <a:t>{</a:t>
            </a:r>
            <a:br/>
            <a:r>
              <a:t>  "resume_id": 301,</a:t>
            </a:r>
            <a:br/>
            <a:r>
              <a:t>  "user_id": 101,</a:t>
            </a:r>
            <a:br/>
            <a:r>
              <a:t>  "filename": "shashank_resume.pdf",</a:t>
            </a:r>
            <a:br/>
            <a:r>
              <a:t>  "projects": [</a:t>
            </a:r>
            <a:br/>
            <a:r>
              <a:t>    {</a:t>
            </a:r>
            <a:br/>
            <a:r>
              <a:t>      "name": "Customer Churn Predictor",</a:t>
            </a:r>
            <a:br/>
            <a:r>
              <a:t>      "tools": ["Python", "Scikit-Learn", "Pandas"],</a:t>
            </a:r>
            <a:br/>
            <a:r>
              <a:t>      "description": "Random Forest pipeline with 89% recall."</a:t>
            </a:r>
            <a:br/>
            <a:r>
              <a:t>    }</a:t>
            </a:r>
            <a:br/>
            <a:r>
              <a:t>  ]</a:t>
            </a:r>
            <a:br/>
            <a:r>
              <a:t>}</a:t>
            </a:r>
          </a:p>
        </p:txBody>
      </p:sp>
      <p:sp>
        <p:nvSpPr>
          <p:cNvPr id="9" name="Rounded Rectangle 8"/>
          <p:cNvSpPr/>
          <p:nvPr/>
        </p:nvSpPr>
        <p:spPr>
          <a:xfrm>
            <a:off x="6217920" y="1371600"/>
            <a:ext cx="52578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92040" cy="4480560"/>
          </a:xfrm>
          <a:prstGeom prst="rect">
            <a:avLst/>
          </a:prstGeom>
          <a:noFill/>
        </p:spPr>
        <p:txBody>
          <a:bodyPr wrap="square">
            <a:spAutoFit/>
          </a:bodyPr>
          <a:lstStyle/>
          <a:p>
            <a:pPr>
              <a:defRPr b="1" sz="1400">
                <a:solidFill>
                  <a:srgbClr val="2563EB"/>
                </a:solidFill>
              </a:defRPr>
            </a:pPr>
            <a:r>
              <a:t>MongoDB Design Patterns Applied</a:t>
            </a:r>
          </a:p>
          <a:p>
            <a:pPr>
              <a:spcBef>
                <a:spcPts val="800"/>
              </a:spcBef>
            </a:pPr>
            <a:r>
              <a:rPr sz="1000" b="1">
                <a:solidFill>
                  <a:srgbClr val="0F172A"/>
                </a:solidFill>
                <a:latin typeface="Segoe UI"/>
              </a:rPr>
              <a:t>• Attribute Pattern (Skills Array): </a:t>
            </a:r>
            <a:r>
              <a:rPr sz="950" b="0">
                <a:solidFill>
                  <a:srgbClr val="64748B"/>
                </a:solidFill>
                <a:latin typeface="Segoe UI"/>
              </a:rPr>
              <a:t>Modeling candidate and job skills as homogeneous BSON string arrays allows efficient Multikey B-Tree indexing without intermediate tables.</a:t>
            </a:r>
          </a:p>
          <a:p>
            <a:pPr>
              <a:spcBef>
                <a:spcPts val="800"/>
              </a:spcBef>
            </a:pPr>
            <a:r>
              <a:rPr sz="1000" b="1">
                <a:solidFill>
                  <a:srgbClr val="0F172A"/>
                </a:solidFill>
                <a:latin typeface="Segoe UI"/>
              </a:rPr>
              <a:t>• Subset Pattern (Project Highlights): </a:t>
            </a:r>
            <a:r>
              <a:rPr sz="950" b="0">
                <a:solidFill>
                  <a:srgbClr val="64748B"/>
                </a:solidFill>
                <a:latin typeface="Segoe UI"/>
              </a:rPr>
              <a:t>Resumes embed only the most relevant recent projects (top 3-5), preventing unbounded document growth and guaranteeing fast document serialization.</a:t>
            </a:r>
          </a:p>
          <a:p>
            <a:pPr>
              <a:spcBef>
                <a:spcPts val="800"/>
              </a:spcBef>
            </a:pPr>
            <a:r>
              <a:rPr sz="1000" b="1">
                <a:solidFill>
                  <a:srgbClr val="0F172A"/>
                </a:solidFill>
                <a:latin typeface="Segoe UI"/>
              </a:rPr>
              <a:t>• Log / Event Sourcing Pattern (Analyses): </a:t>
            </a:r>
            <a:r>
              <a:rPr sz="950" b="0">
                <a:solidFill>
                  <a:srgbClr val="64748B"/>
                </a:solidFill>
                <a:latin typeface="Segoe UI"/>
              </a:rPr>
              <a:t>Evaluations are stored as immutable point-in-time documents in analyses with timestamps, supporting longitudinal candidate progress tracking.</a:t>
            </a:r>
          </a:p>
          <a:p>
            <a:pPr>
              <a:spcBef>
                <a:spcPts val="800"/>
              </a:spcBef>
            </a:pPr>
            <a:r>
              <a:rPr sz="1000" b="1">
                <a:solidFill>
                  <a:srgbClr val="0F172A"/>
                </a:solidFill>
                <a:latin typeface="Segoe UI"/>
              </a:rPr>
              <a:t>• Schema Flexibility in Practice: </a:t>
            </a:r>
            <a:r>
              <a:rPr sz="950" b="0">
                <a:solidFill>
                  <a:srgbClr val="64748B"/>
                </a:solidFill>
                <a:latin typeface="Segoe UI"/>
              </a:rPr>
              <a:t>Different candidates can possess completely distinct project properties (e.g. GitHub URL, live demo link, team size) without requiring ALTER TABLE modifications.</a:t>
            </a:r>
          </a:p>
          <a:p>
            <a:pPr>
              <a:spcBef>
                <a:spcPts val="800"/>
              </a:spcBef>
            </a:pPr>
            <a:r>
              <a:rPr sz="1000" b="1">
                <a:solidFill>
                  <a:srgbClr val="0F172A"/>
                </a:solidFill>
                <a:latin typeface="Segoe UI"/>
              </a:rPr>
              <a:t>• BSON Vector Document Pattern: </a:t>
            </a:r>
            <a:r>
              <a:rPr sz="950" b="0">
                <a:solidFill>
                  <a:srgbClr val="64748B"/>
                </a:solidFill>
                <a:latin typeface="Segoe UI"/>
              </a:rPr>
              <a:t>The knowledge_vectors collection stores dense 128-float arrays directly in each curriculum chunk, allowing single-query document + vector retrieval.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MongoDB CRUD Implementation &amp; Atomic Array Modifiers</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8 / 18</a:t>
            </a:r>
          </a:p>
        </p:txBody>
      </p:sp>
      <p:sp>
        <p:nvSpPr>
          <p:cNvPr id="7" name="Rounded Rectangle 6"/>
          <p:cNvSpPr/>
          <p:nvPr/>
        </p:nvSpPr>
        <p:spPr>
          <a:xfrm>
            <a:off x="731520" y="1371600"/>
            <a:ext cx="5257800" cy="22860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525780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5257800" cy="411480"/>
          </a:xfrm>
          <a:prstGeom prst="rect">
            <a:avLst/>
          </a:prstGeom>
          <a:noFill/>
        </p:spPr>
        <p:txBody>
          <a:bodyPr wrap="none">
            <a:spAutoFit/>
          </a:bodyPr>
          <a:lstStyle/>
          <a:p>
            <a:pPr algn="ctr">
              <a:defRPr b="1" sz="1000">
                <a:solidFill>
                  <a:srgbClr val="FFFFFF"/>
                </a:solidFill>
              </a:defRPr>
            </a:pPr>
            <a:r>
              <a:t>CREATE (Insert Operations)</a:t>
            </a:r>
          </a:p>
        </p:txBody>
      </p:sp>
      <p:sp>
        <p:nvSpPr>
          <p:cNvPr id="10" name="TextBox 9"/>
          <p:cNvSpPr txBox="1"/>
          <p:nvPr/>
        </p:nvSpPr>
        <p:spPr>
          <a:xfrm>
            <a:off x="868680" y="1828800"/>
            <a:ext cx="4983480" cy="1737360"/>
          </a:xfrm>
          <a:prstGeom prst="rect">
            <a:avLst/>
          </a:prstGeom>
          <a:noFill/>
        </p:spPr>
        <p:txBody>
          <a:bodyPr wrap="square">
            <a:spAutoFit/>
          </a:bodyPr>
          <a:lstStyle/>
          <a:p>
            <a:pPr>
              <a:defRPr sz="850" b="1">
                <a:solidFill>
                  <a:srgbClr val="64748B"/>
                </a:solidFill>
                <a:latin typeface="Consolas"/>
              </a:defRPr>
            </a:pPr>
            <a:r>
              <a:t># Single document insertion</a:t>
            </a:r>
          </a:p>
          <a:p>
            <a:pPr>
              <a:defRPr sz="850">
                <a:solidFill>
                  <a:srgbClr val="0F172A"/>
                </a:solidFill>
                <a:latin typeface="Consolas"/>
              </a:defRPr>
            </a:pPr>
            <a:r>
              <a:t>db.users.insert_one({</a:t>
            </a:r>
          </a:p>
          <a:p>
            <a:pPr>
              <a:defRPr sz="850">
                <a:solidFill>
                  <a:srgbClr val="0F172A"/>
                </a:solidFill>
                <a:latin typeface="Consolas"/>
              </a:defRPr>
            </a:pPr>
            <a:r>
              <a:t>  "user_id": 107, "name": "Priya",</a:t>
            </a:r>
          </a:p>
          <a:p>
            <a:pPr>
              <a:defRPr sz="850">
                <a:solidFill>
                  <a:srgbClr val="0F172A"/>
                </a:solidFill>
                <a:latin typeface="Consolas"/>
              </a:defRPr>
            </a:pPr>
            <a:r>
              <a:t>  "skills": ["Python", "FastAPI"]</a:t>
            </a:r>
          </a:p>
          <a:p>
            <a:pPr>
              <a:defRPr sz="850">
                <a:solidFill>
                  <a:srgbClr val="0F172A"/>
                </a:solidFill>
                <a:latin typeface="Consolas"/>
              </a:defRPr>
            </a:pPr>
            <a:r>
              <a:t>})</a:t>
            </a:r>
          </a:p>
          <a:p>
            <a:pPr>
              <a:defRPr sz="850">
                <a:solidFill>
                  <a:srgbClr val="0F172A"/>
                </a:solidFill>
                <a:latin typeface="Consolas"/>
              </a:defRPr>
            </a:pPr>
          </a:p>
          <a:p>
            <a:pPr>
              <a:defRPr sz="850" b="1">
                <a:solidFill>
                  <a:srgbClr val="64748B"/>
                </a:solidFill>
                <a:latin typeface="Consolas"/>
              </a:defRPr>
            </a:pPr>
            <a:r>
              <a:t># Bulk insertion for jobs</a:t>
            </a:r>
          </a:p>
          <a:p>
            <a:pPr>
              <a:defRPr sz="850">
                <a:solidFill>
                  <a:srgbClr val="0F172A"/>
                </a:solidFill>
                <a:latin typeface="Consolas"/>
              </a:defRPr>
            </a:pPr>
            <a:r>
              <a:t>db.jobs.insert_many(</a:t>
            </a:r>
          </a:p>
          <a:p>
            <a:pPr>
              <a:defRPr sz="850">
                <a:solidFill>
                  <a:srgbClr val="0F172A"/>
                </a:solidFill>
                <a:latin typeface="Consolas"/>
              </a:defRPr>
            </a:pPr>
            <a:r>
              <a:t>  JOBS_DATA, ordered=False</a:t>
            </a:r>
          </a:p>
          <a:p>
            <a:pPr>
              <a:defRPr sz="850">
                <a:solidFill>
                  <a:srgbClr val="0F172A"/>
                </a:solidFill>
                <a:latin typeface="Consolas"/>
              </a:defRPr>
            </a:pPr>
            <a:r>
              <a:t>)</a:t>
            </a:r>
          </a:p>
        </p:txBody>
      </p:sp>
      <p:sp>
        <p:nvSpPr>
          <p:cNvPr id="11" name="Rounded Rectangle 10"/>
          <p:cNvSpPr/>
          <p:nvPr/>
        </p:nvSpPr>
        <p:spPr>
          <a:xfrm>
            <a:off x="6172200" y="1371600"/>
            <a:ext cx="5257800" cy="22860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371600"/>
            <a:ext cx="525780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371600"/>
            <a:ext cx="5257800" cy="411480"/>
          </a:xfrm>
          <a:prstGeom prst="rect">
            <a:avLst/>
          </a:prstGeom>
          <a:noFill/>
        </p:spPr>
        <p:txBody>
          <a:bodyPr wrap="none">
            <a:spAutoFit/>
          </a:bodyPr>
          <a:lstStyle/>
          <a:p>
            <a:pPr algn="ctr">
              <a:defRPr b="1" sz="1000">
                <a:solidFill>
                  <a:srgbClr val="FFFFFF"/>
                </a:solidFill>
              </a:defRPr>
            </a:pPr>
            <a:r>
              <a:t>READ (Query &amp; Array Match)</a:t>
            </a:r>
          </a:p>
        </p:txBody>
      </p:sp>
      <p:sp>
        <p:nvSpPr>
          <p:cNvPr id="14" name="TextBox 13"/>
          <p:cNvSpPr txBox="1"/>
          <p:nvPr/>
        </p:nvSpPr>
        <p:spPr>
          <a:xfrm>
            <a:off x="6309360" y="1828800"/>
            <a:ext cx="4983480" cy="1737360"/>
          </a:xfrm>
          <a:prstGeom prst="rect">
            <a:avLst/>
          </a:prstGeom>
          <a:noFill/>
        </p:spPr>
        <p:txBody>
          <a:bodyPr wrap="square">
            <a:spAutoFit/>
          </a:bodyPr>
          <a:lstStyle/>
          <a:p>
            <a:pPr>
              <a:defRPr sz="850" b="1">
                <a:solidFill>
                  <a:srgbClr val="64748B"/>
                </a:solidFill>
                <a:latin typeface="Consolas"/>
              </a:defRPr>
            </a:pPr>
            <a:r>
              <a:t># Exact Primary Key lookup</a:t>
            </a:r>
          </a:p>
          <a:p>
            <a:pPr>
              <a:defRPr sz="850">
                <a:solidFill>
                  <a:srgbClr val="0F172A"/>
                </a:solidFill>
                <a:latin typeface="Consolas"/>
              </a:defRPr>
            </a:pPr>
            <a:r>
              <a:t>db.users.find_one({"user_id": 101})</a:t>
            </a:r>
          </a:p>
          <a:p>
            <a:pPr>
              <a:defRPr sz="850">
                <a:solidFill>
                  <a:srgbClr val="0F172A"/>
                </a:solidFill>
                <a:latin typeface="Consolas"/>
              </a:defRPr>
            </a:pPr>
          </a:p>
          <a:p>
            <a:pPr>
              <a:defRPr sz="850" b="1">
                <a:solidFill>
                  <a:srgbClr val="64748B"/>
                </a:solidFill>
                <a:latin typeface="Consolas"/>
              </a:defRPr>
            </a:pPr>
            <a:r>
              <a:t># Multikey Array matching ($all)</a:t>
            </a:r>
          </a:p>
          <a:p>
            <a:pPr>
              <a:defRPr sz="850">
                <a:solidFill>
                  <a:srgbClr val="0F172A"/>
                </a:solidFill>
                <a:latin typeface="Consolas"/>
              </a:defRPr>
            </a:pPr>
            <a:r>
              <a:t>db.jobs.find({</a:t>
            </a:r>
          </a:p>
          <a:p>
            <a:pPr>
              <a:defRPr sz="850">
                <a:solidFill>
                  <a:srgbClr val="0F172A"/>
                </a:solidFill>
                <a:latin typeface="Consolas"/>
              </a:defRPr>
            </a:pPr>
            <a:r>
              <a:t>  "required_skills": {</a:t>
            </a:r>
          </a:p>
          <a:p>
            <a:pPr>
              <a:defRPr sz="850" b="1">
                <a:solidFill>
                  <a:srgbClr val="2563EB"/>
                </a:solidFill>
                <a:latin typeface="Consolas"/>
              </a:defRPr>
            </a:pPr>
            <a:r>
              <a:t>    "$all": ["Python", "Docker"]</a:t>
            </a:r>
          </a:p>
          <a:p>
            <a:pPr>
              <a:defRPr sz="850">
                <a:solidFill>
                  <a:srgbClr val="0F172A"/>
                </a:solidFill>
                <a:latin typeface="Consolas"/>
              </a:defRPr>
            </a:pPr>
            <a:r>
              <a:t>  }</a:t>
            </a:r>
          </a:p>
          <a:p>
            <a:pPr>
              <a:defRPr sz="850">
                <a:solidFill>
                  <a:srgbClr val="0F172A"/>
                </a:solidFill>
                <a:latin typeface="Consolas"/>
              </a:defRPr>
            </a:pPr>
            <a:r>
              <a:t>})</a:t>
            </a:r>
          </a:p>
        </p:txBody>
      </p:sp>
      <p:sp>
        <p:nvSpPr>
          <p:cNvPr id="15" name="Rounded Rectangle 14"/>
          <p:cNvSpPr/>
          <p:nvPr/>
        </p:nvSpPr>
        <p:spPr>
          <a:xfrm>
            <a:off x="731520" y="3840480"/>
            <a:ext cx="5257800" cy="2286000"/>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840480"/>
            <a:ext cx="5257800" cy="4114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40480"/>
            <a:ext cx="5257800" cy="411480"/>
          </a:xfrm>
          <a:prstGeom prst="rect">
            <a:avLst/>
          </a:prstGeom>
          <a:noFill/>
        </p:spPr>
        <p:txBody>
          <a:bodyPr wrap="none">
            <a:spAutoFit/>
          </a:bodyPr>
          <a:lstStyle/>
          <a:p>
            <a:pPr algn="ctr">
              <a:defRPr b="1" sz="1000">
                <a:solidFill>
                  <a:srgbClr val="FFFFFF"/>
                </a:solidFill>
              </a:defRPr>
            </a:pPr>
            <a:r>
              <a:t>UPDATE (Atomic Array Modifiers)</a:t>
            </a:r>
          </a:p>
        </p:txBody>
      </p:sp>
      <p:sp>
        <p:nvSpPr>
          <p:cNvPr id="18" name="TextBox 17"/>
          <p:cNvSpPr txBox="1"/>
          <p:nvPr/>
        </p:nvSpPr>
        <p:spPr>
          <a:xfrm>
            <a:off x="868680" y="4297680"/>
            <a:ext cx="4983480" cy="1737360"/>
          </a:xfrm>
          <a:prstGeom prst="rect">
            <a:avLst/>
          </a:prstGeom>
          <a:noFill/>
        </p:spPr>
        <p:txBody>
          <a:bodyPr wrap="square">
            <a:spAutoFit/>
          </a:bodyPr>
          <a:lstStyle/>
          <a:p>
            <a:pPr>
              <a:defRPr sz="850" b="1">
                <a:solidFill>
                  <a:srgbClr val="64748B"/>
                </a:solidFill>
                <a:latin typeface="Consolas"/>
              </a:defRPr>
            </a:pPr>
            <a:r>
              <a:t># Deduplicated array append ($addToSet)</a:t>
            </a:r>
          </a:p>
          <a:p>
            <a:pPr>
              <a:defRPr sz="850">
                <a:solidFill>
                  <a:srgbClr val="0F172A"/>
                </a:solidFill>
                <a:latin typeface="Consolas"/>
              </a:defRPr>
            </a:pPr>
            <a:r>
              <a:t>db.users.update_one({"user_id": 101},</a:t>
            </a:r>
          </a:p>
          <a:p>
            <a:pPr>
              <a:defRPr sz="850" b="1">
                <a:solidFill>
                  <a:srgbClr val="2563EB"/>
                </a:solidFill>
                <a:latin typeface="Consolas"/>
              </a:defRPr>
            </a:pPr>
            <a:r>
              <a:t>  {"$addToSet": {"skills": "Docker"}}</a:t>
            </a:r>
          </a:p>
          <a:p>
            <a:pPr>
              <a:defRPr sz="850">
                <a:solidFill>
                  <a:srgbClr val="0F172A"/>
                </a:solidFill>
                <a:latin typeface="Consolas"/>
              </a:defRPr>
            </a:pPr>
            <a:r>
              <a:t>)</a:t>
            </a:r>
          </a:p>
          <a:p>
            <a:pPr>
              <a:defRPr sz="850">
                <a:solidFill>
                  <a:srgbClr val="0F172A"/>
                </a:solidFill>
                <a:latin typeface="Consolas"/>
              </a:defRPr>
            </a:pPr>
          </a:p>
          <a:p>
            <a:pPr>
              <a:defRPr sz="850" b="1">
                <a:solidFill>
                  <a:srgbClr val="64748B"/>
                </a:solidFill>
                <a:latin typeface="Consolas"/>
              </a:defRPr>
            </a:pPr>
            <a:r>
              <a:t># Atomic element removal ($pull)</a:t>
            </a:r>
          </a:p>
          <a:p>
            <a:pPr>
              <a:defRPr sz="850">
                <a:solidFill>
                  <a:srgbClr val="0F172A"/>
                </a:solidFill>
                <a:latin typeface="Consolas"/>
              </a:defRPr>
            </a:pPr>
            <a:r>
              <a:t>db.users.update_one({"user_id": 101},</a:t>
            </a:r>
          </a:p>
          <a:p>
            <a:pPr>
              <a:defRPr sz="850" b="1">
                <a:solidFill>
                  <a:srgbClr val="2563EB"/>
                </a:solidFill>
                <a:latin typeface="Consolas"/>
              </a:defRPr>
            </a:pPr>
            <a:r>
              <a:t>  {"$pull": {"skills": "Pandas"}}</a:t>
            </a:r>
          </a:p>
          <a:p>
            <a:pPr>
              <a:defRPr sz="850">
                <a:solidFill>
                  <a:srgbClr val="0F172A"/>
                </a:solidFill>
                <a:latin typeface="Consolas"/>
              </a:defRPr>
            </a:pPr>
            <a:r>
              <a:t>)</a:t>
            </a:r>
          </a:p>
        </p:txBody>
      </p:sp>
      <p:sp>
        <p:nvSpPr>
          <p:cNvPr id="19" name="Rounded Rectangle 18"/>
          <p:cNvSpPr/>
          <p:nvPr/>
        </p:nvSpPr>
        <p:spPr>
          <a:xfrm>
            <a:off x="6172200" y="3840480"/>
            <a:ext cx="5257800" cy="228600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3840480"/>
            <a:ext cx="5257800" cy="4114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840480"/>
            <a:ext cx="5257800" cy="411480"/>
          </a:xfrm>
          <a:prstGeom prst="rect">
            <a:avLst/>
          </a:prstGeom>
          <a:noFill/>
        </p:spPr>
        <p:txBody>
          <a:bodyPr wrap="none">
            <a:spAutoFit/>
          </a:bodyPr>
          <a:lstStyle/>
          <a:p>
            <a:pPr algn="ctr">
              <a:defRPr b="1" sz="1000">
                <a:solidFill>
                  <a:srgbClr val="FFFFFF"/>
                </a:solidFill>
              </a:defRPr>
            </a:pPr>
            <a:r>
              <a:t>DELETE &amp; RESET</a:t>
            </a:r>
          </a:p>
        </p:txBody>
      </p:sp>
      <p:sp>
        <p:nvSpPr>
          <p:cNvPr id="22" name="TextBox 21"/>
          <p:cNvSpPr txBox="1"/>
          <p:nvPr/>
        </p:nvSpPr>
        <p:spPr>
          <a:xfrm>
            <a:off x="6309360" y="4297680"/>
            <a:ext cx="4983480" cy="1737360"/>
          </a:xfrm>
          <a:prstGeom prst="rect">
            <a:avLst/>
          </a:prstGeom>
          <a:noFill/>
        </p:spPr>
        <p:txBody>
          <a:bodyPr wrap="square">
            <a:spAutoFit/>
          </a:bodyPr>
          <a:lstStyle/>
          <a:p>
            <a:pPr>
              <a:defRPr sz="850" b="1">
                <a:solidFill>
                  <a:srgbClr val="64748B"/>
                </a:solidFill>
                <a:latin typeface="Consolas"/>
              </a:defRPr>
            </a:pPr>
            <a:r>
              <a:t># Single document deletion</a:t>
            </a:r>
          </a:p>
          <a:p>
            <a:pPr>
              <a:defRPr sz="850">
                <a:solidFill>
                  <a:srgbClr val="0F172A"/>
                </a:solidFill>
                <a:latin typeface="Consolas"/>
              </a:defRPr>
            </a:pPr>
            <a:r>
              <a:t>db.users.delete_one({"user_id": 101})</a:t>
            </a:r>
          </a:p>
          <a:p>
            <a:pPr>
              <a:defRPr sz="850">
                <a:solidFill>
                  <a:srgbClr val="0F172A"/>
                </a:solidFill>
                <a:latin typeface="Consolas"/>
              </a:defRPr>
            </a:pPr>
          </a:p>
          <a:p>
            <a:pPr>
              <a:defRPr sz="850" b="1">
                <a:solidFill>
                  <a:srgbClr val="64748B"/>
                </a:solidFill>
                <a:latin typeface="Consolas"/>
              </a:defRPr>
            </a:pPr>
            <a:r>
              <a:t># Clean collection purge</a:t>
            </a:r>
          </a:p>
          <a:p>
            <a:pPr>
              <a:defRPr sz="850">
                <a:solidFill>
                  <a:srgbClr val="0F172A"/>
                </a:solidFill>
                <a:latin typeface="Consolas"/>
              </a:defRPr>
            </a:pPr>
            <a:r>
              <a:t>db.analyses.delete_many({})</a:t>
            </a:r>
          </a:p>
          <a:p>
            <a:pPr>
              <a:defRPr sz="850">
                <a:solidFill>
                  <a:srgbClr val="0F172A"/>
                </a:solidFill>
                <a:latin typeface="Consolas"/>
              </a:defRPr>
            </a:pPr>
          </a:p>
          <a:p>
            <a:pPr>
              <a:defRPr sz="850" b="1">
                <a:solidFill>
                  <a:srgbClr val="64748B"/>
                </a:solidFill>
                <a:latin typeface="Consolas"/>
              </a:defRPr>
            </a:pPr>
            <a:r>
              <a:t># Execution acknowledgment verified</a:t>
            </a:r>
          </a:p>
          <a:p>
            <a:pPr>
              <a:defRPr sz="850">
                <a:solidFill>
                  <a:srgbClr val="0F172A"/>
                </a:solidFill>
                <a:latin typeface="Consolas"/>
              </a:defRPr>
            </a:pPr>
            <a:r>
              <a:t>assert res.acknowledged == True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Indexing Strategy &amp; Performance Analysis (explain())</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9 / 18</a:t>
            </a:r>
          </a:p>
        </p:txBody>
      </p:sp>
      <p:sp>
        <p:nvSpPr>
          <p:cNvPr id="7" name="Rounded Rectangle 6"/>
          <p:cNvSpPr/>
          <p:nvPr/>
        </p:nvSpPr>
        <p:spPr>
          <a:xfrm>
            <a:off x="731520" y="1371600"/>
            <a:ext cx="54864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5120640" cy="4480560"/>
          </a:xfrm>
          <a:prstGeom prst="rect">
            <a:avLst/>
          </a:prstGeom>
          <a:noFill/>
        </p:spPr>
        <p:txBody>
          <a:bodyPr wrap="square">
            <a:spAutoFit/>
          </a:bodyPr>
          <a:lstStyle/>
          <a:p>
            <a:pPr>
              <a:defRPr b="1" sz="1400">
                <a:solidFill>
                  <a:srgbClr val="2563EB"/>
                </a:solidFill>
              </a:defRPr>
            </a:pPr>
            <a:r>
              <a:t>Implemented MongoDB Indexes</a:t>
            </a:r>
          </a:p>
          <a:p>
            <a:pPr>
              <a:spcBef>
                <a:spcPts val="600"/>
              </a:spcBef>
            </a:pPr>
            <a:r>
              <a:rPr sz="950" b="1">
                <a:solidFill>
                  <a:srgbClr val="2563EB"/>
                </a:solidFill>
                <a:latin typeface="Segoe UI"/>
              </a:rPr>
              <a:t>• users.user_id </a:t>
            </a:r>
            <a:r>
              <a:rPr sz="900" b="1">
                <a:solidFill>
                  <a:srgbClr val="0D9488"/>
                </a:solidFill>
                <a:latin typeface="Segoe UI"/>
              </a:rPr>
              <a:t>[Unique Single-Field]: </a:t>
            </a:r>
            <a:r>
              <a:rPr sz="900" b="0">
                <a:solidFill>
                  <a:srgbClr val="64748B"/>
                </a:solidFill>
                <a:latin typeface="Segoe UI"/>
              </a:rPr>
              <a:t>Guarantees primary candidate uniqueness; point lookups in &lt;2ms.</a:t>
            </a:r>
          </a:p>
          <a:p>
            <a:pPr>
              <a:spcBef>
                <a:spcPts val="600"/>
              </a:spcBef>
            </a:pPr>
            <a:r>
              <a:rPr sz="950" b="1">
                <a:solidFill>
                  <a:srgbClr val="2563EB"/>
                </a:solidFill>
                <a:latin typeface="Segoe UI"/>
              </a:rPr>
              <a:t>• users.email </a:t>
            </a:r>
            <a:r>
              <a:rPr sz="900" b="1">
                <a:solidFill>
                  <a:srgbClr val="0D9488"/>
                </a:solidFill>
                <a:latin typeface="Segoe UI"/>
              </a:rPr>
              <a:t>[Unique Sparse Index]: </a:t>
            </a:r>
            <a:r>
              <a:rPr sz="900" b="0">
                <a:solidFill>
                  <a:srgbClr val="64748B"/>
                </a:solidFill>
                <a:latin typeface="Segoe UI"/>
              </a:rPr>
              <a:t>Enforces email uniqueness while permitting documents without an email field.</a:t>
            </a:r>
          </a:p>
          <a:p>
            <a:pPr>
              <a:spcBef>
                <a:spcPts val="600"/>
              </a:spcBef>
            </a:pPr>
            <a:r>
              <a:rPr sz="950" b="1">
                <a:solidFill>
                  <a:srgbClr val="2563EB"/>
                </a:solidFill>
                <a:latin typeface="Segoe UI"/>
              </a:rPr>
              <a:t>• resumes.skills </a:t>
            </a:r>
            <a:r>
              <a:rPr sz="900" b="1">
                <a:solidFill>
                  <a:srgbClr val="0D9488"/>
                </a:solidFill>
                <a:latin typeface="Segoe UI"/>
              </a:rPr>
              <a:t>[Multikey B-Tree Index]: </a:t>
            </a:r>
            <a:r>
              <a:rPr sz="900" b="0">
                <a:solidFill>
                  <a:srgbClr val="64748B"/>
                </a:solidFill>
                <a:latin typeface="Segoe UI"/>
              </a:rPr>
              <a:t>Indexes each individual string in the skills array for rapid subset matching.</a:t>
            </a:r>
          </a:p>
          <a:p>
            <a:pPr>
              <a:spcBef>
                <a:spcPts val="600"/>
              </a:spcBef>
            </a:pPr>
            <a:r>
              <a:rPr sz="950" b="1">
                <a:solidFill>
                  <a:srgbClr val="2563EB"/>
                </a:solidFill>
                <a:latin typeface="Segoe UI"/>
              </a:rPr>
              <a:t>• jobs.required_skills </a:t>
            </a:r>
            <a:r>
              <a:rPr sz="900" b="1">
                <a:solidFill>
                  <a:srgbClr val="0D9488"/>
                </a:solidFill>
                <a:latin typeface="Segoe UI"/>
              </a:rPr>
              <a:t>[Multikey B-Tree Index]: </a:t>
            </a:r>
            <a:r>
              <a:rPr sz="900" b="0">
                <a:solidFill>
                  <a:srgbClr val="64748B"/>
                </a:solidFill>
                <a:latin typeface="Segoe UI"/>
              </a:rPr>
              <a:t>Accelerates array queries evaluating required competencies using $all.</a:t>
            </a:r>
          </a:p>
          <a:p>
            <a:pPr>
              <a:spcBef>
                <a:spcPts val="600"/>
              </a:spcBef>
            </a:pPr>
            <a:r>
              <a:rPr sz="950" b="1">
                <a:solidFill>
                  <a:srgbClr val="2563EB"/>
                </a:solidFill>
                <a:latin typeface="Segoe UI"/>
              </a:rPr>
              <a:t>• jobs.title &amp; company </a:t>
            </a:r>
            <a:r>
              <a:rPr sz="900" b="1">
                <a:solidFill>
                  <a:srgbClr val="0D9488"/>
                </a:solidFill>
                <a:latin typeface="Segoe UI"/>
              </a:rPr>
              <a:t>[Full-Text Index]: </a:t>
            </a:r>
            <a:r>
              <a:rPr sz="900" b="0">
                <a:solidFill>
                  <a:srgbClr val="64748B"/>
                </a:solidFill>
                <a:latin typeface="Segoe UI"/>
              </a:rPr>
              <a:t>Enables text score sorting and keyword queries ($text: {$search: 'ML'}).</a:t>
            </a:r>
          </a:p>
          <a:p>
            <a:pPr>
              <a:spcBef>
                <a:spcPts val="600"/>
              </a:spcBef>
            </a:pPr>
            <a:r>
              <a:rPr sz="950" b="1">
                <a:solidFill>
                  <a:srgbClr val="2563EB"/>
                </a:solidFill>
                <a:latin typeface="Segoe UI"/>
              </a:rPr>
              <a:t>• knowledge_vectors.doc_id </a:t>
            </a:r>
            <a:r>
              <a:rPr sz="900" b="1">
                <a:solidFill>
                  <a:srgbClr val="0D9488"/>
                </a:solidFill>
                <a:latin typeface="Segoe UI"/>
              </a:rPr>
              <a:t>[Unique Index]: </a:t>
            </a:r>
            <a:r>
              <a:rPr sz="900" b="0">
                <a:solidFill>
                  <a:srgbClr val="64748B"/>
                </a:solidFill>
                <a:latin typeface="Segoe UI"/>
              </a:rPr>
              <a:t>Powers O(1) point retrieval of RAG curriculum documents.</a:t>
            </a:r>
          </a:p>
        </p:txBody>
      </p:sp>
      <p:sp>
        <p:nvSpPr>
          <p:cNvPr id="9" name="Rounded Rectangle 8"/>
          <p:cNvSpPr/>
          <p:nvPr/>
        </p:nvSpPr>
        <p:spPr>
          <a:xfrm>
            <a:off x="6400800" y="1371600"/>
            <a:ext cx="5059375" cy="4846320"/>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08760"/>
            <a:ext cx="4693615" cy="4480560"/>
          </a:xfrm>
          <a:prstGeom prst="rect">
            <a:avLst/>
          </a:prstGeom>
          <a:noFill/>
        </p:spPr>
        <p:txBody>
          <a:bodyPr wrap="square">
            <a:spAutoFit/>
          </a:bodyPr>
          <a:lstStyle/>
          <a:p>
            <a:pPr>
              <a:defRPr b="1" sz="1400">
                <a:solidFill>
                  <a:srgbClr val="EA580C"/>
                </a:solidFill>
              </a:defRPr>
            </a:pPr>
            <a:r>
              <a:t>Execution Plan: COLLSCAN vs. IXSCAN</a:t>
            </a:r>
          </a:p>
          <a:p>
            <a:pPr>
              <a:spcBef>
                <a:spcPts val="600"/>
              </a:spcBef>
              <a:defRPr b="1" sz="1000">
                <a:solidFill>
                  <a:srgbClr val="0F172A"/>
                </a:solidFill>
              </a:defRPr>
            </a:pPr>
            <a:r>
              <a:t>Analysis via explain('executionStats'):</a:t>
            </a:r>
          </a:p>
          <a:p>
            <a:pPr>
              <a:spcBef>
                <a:spcPts val="400"/>
              </a:spcBef>
              <a:defRPr sz="850">
                <a:solidFill>
                  <a:srgbClr val="2563EB"/>
                </a:solidFill>
                <a:latin typeface="Consolas"/>
              </a:defRPr>
            </a:pPr>
            <a:r>
              <a:t>// UNINDEXED SCAN (Without index):</a:t>
            </a:r>
            <a:br/>
            <a:r>
              <a:t>stage: "COLLSCAN"</a:t>
            </a:r>
            <a:br/>
            <a:r>
              <a:t>totalDocsExamined: N (Evaluates all documents)</a:t>
            </a:r>
            <a:br/>
            <a:r>
              <a:t>executionTimeMillis: ~35 ms</a:t>
            </a:r>
            <a:br/>
            <a:r>
              <a:t>Complexity: O(N) Linear Collection Scan</a:t>
            </a:r>
            <a:br/>
            <a:br/>
            <a:r>
              <a:t>// INDEXED SCAN (With uniq_user_id):</a:t>
            </a:r>
            <a:br/>
            <a:r>
              <a:t>stage: "IXSCAN" -&gt; "FETCH"</a:t>
            </a:r>
            <a:br/>
            <a:r>
              <a:t>indexName: 'uniq_user_id'</a:t>
            </a:r>
            <a:br/>
            <a:r>
              <a:t>totalDocsExamined: 1</a:t>
            </a:r>
            <a:br/>
            <a:r>
              <a:t>nReturned: 1</a:t>
            </a:r>
            <a:br/>
            <a:r>
              <a:t>executionTimeMillis: &lt; 1 ms</a:t>
            </a:r>
            <a:br/>
            <a:r>
              <a:t>Complexity: O(log N) B-Tree Traversal</a:t>
            </a:r>
          </a:p>
          <a:p>
            <a:pPr>
              <a:spcBef>
                <a:spcPts val="600"/>
              </a:spcBef>
              <a:defRPr b="1" sz="950">
                <a:solidFill>
                  <a:srgbClr val="10B981"/>
                </a:solidFill>
              </a:defRPr>
            </a:pPr>
            <a:r>
              <a:t>Impact: Reduced query evaluation time by 97.1%, eliminating disk-thrashing collection scans under high concurrency.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Advanced MongoDB Aggregation Framework (5 Pipelines)</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10 / 18</a:t>
            </a:r>
          </a:p>
        </p:txBody>
      </p:sp>
      <p:graphicFrame>
        <p:nvGraphicFramePr>
          <p:cNvPr id="7" name="Table 6"/>
          <p:cNvGraphicFramePr>
            <a:graphicFrameLocks noGrp="1"/>
          </p:cNvGraphicFramePr>
          <p:nvPr/>
        </p:nvGraphicFramePr>
        <p:xfrm>
          <a:off x="731520" y="1371600"/>
          <a:ext cx="10728655" cy="3657600"/>
        </p:xfrm>
        <a:graphic>
          <a:graphicData uri="http://schemas.openxmlformats.org/drawingml/2006/table">
            <a:tbl>
              <a:tblPr firstRow="1" bandRow="1">
                <a:tableStyleId>{5C22544A-7EE6-4342-B048-85BDC9FD1C3A}</a:tableStyleId>
              </a:tblPr>
              <a:tblGrid>
                <a:gridCol w="2011680"/>
                <a:gridCol w="1463040"/>
                <a:gridCol w="2926080"/>
                <a:gridCol w="1645920"/>
                <a:gridCol w="2681935"/>
              </a:tblGrid>
              <a:tr h="609600">
                <a:tc>
                  <a:txBody>
                    <a:bodyPr/>
                    <a:lstStyle/>
                    <a:p>
                      <a:pPr>
                        <a:defRPr sz="950" b="1">
                          <a:solidFill>
                            <a:srgbClr val="FFFFFF"/>
                          </a:solidFill>
                          <a:latin typeface="Segoe UI"/>
                        </a:defRPr>
                      </a:pPr>
                      <a:r>
                        <a:t>Pipeline Name</a:t>
                      </a:r>
                    </a:p>
                  </a:txBody>
                  <a:tcPr>
                    <a:solidFill>
                      <a:srgbClr val="2563EB"/>
                    </a:solidFill>
                  </a:tcPr>
                </a:tc>
                <a:tc>
                  <a:txBody>
                    <a:bodyPr/>
                    <a:lstStyle/>
                    <a:p>
                      <a:pPr>
                        <a:defRPr sz="950" b="1">
                          <a:solidFill>
                            <a:srgbClr val="FFFFFF"/>
                          </a:solidFill>
                          <a:latin typeface="Segoe UI"/>
                        </a:defRPr>
                      </a:pPr>
                      <a:r>
                        <a:t>Input Collection</a:t>
                      </a:r>
                    </a:p>
                  </a:txBody>
                  <a:tcPr>
                    <a:solidFill>
                      <a:srgbClr val="2563EB"/>
                    </a:solidFill>
                  </a:tcPr>
                </a:tc>
                <a:tc>
                  <a:txBody>
                    <a:bodyPr/>
                    <a:lstStyle/>
                    <a:p>
                      <a:pPr>
                        <a:defRPr sz="950" b="1">
                          <a:solidFill>
                            <a:srgbClr val="FFFFFF"/>
                          </a:solidFill>
                          <a:latin typeface="Segoe UI"/>
                        </a:defRPr>
                      </a:pPr>
                      <a:r>
                        <a:t>Pipeline Stages Executed</a:t>
                      </a:r>
                    </a:p>
                  </a:txBody>
                  <a:tcPr>
                    <a:solidFill>
                      <a:srgbClr val="2563EB"/>
                    </a:solidFill>
                  </a:tcPr>
                </a:tc>
                <a:tc>
                  <a:txBody>
                    <a:bodyPr/>
                    <a:lstStyle/>
                    <a:p>
                      <a:pPr>
                        <a:defRPr sz="950" b="1">
                          <a:solidFill>
                            <a:srgbClr val="FFFFFF"/>
                          </a:solidFill>
                          <a:latin typeface="Segoe UI"/>
                        </a:defRPr>
                      </a:pPr>
                      <a:r>
                        <a:t>Key Operators</a:t>
                      </a:r>
                    </a:p>
                  </a:txBody>
                  <a:tcPr>
                    <a:solidFill>
                      <a:srgbClr val="2563EB"/>
                    </a:solidFill>
                  </a:tcPr>
                </a:tc>
                <a:tc>
                  <a:txBody>
                    <a:bodyPr/>
                    <a:lstStyle/>
                    <a:p>
                      <a:pPr>
                        <a:defRPr sz="950" b="1">
                          <a:solidFill>
                            <a:srgbClr val="FFFFFF"/>
                          </a:solidFill>
                          <a:latin typeface="Segoe UI"/>
                        </a:defRPr>
                      </a:pPr>
                      <a:r>
                        <a:t>Business / Analytical Value</a:t>
                      </a:r>
                    </a:p>
                  </a:txBody>
                  <a:tcPr>
                    <a:solidFill>
                      <a:srgbClr val="2563EB"/>
                    </a:solidFill>
                  </a:tcPr>
                </a:tc>
              </a:tr>
              <a:tr h="609600">
                <a:tc>
                  <a:txBody>
                    <a:bodyPr/>
                    <a:lstStyle/>
                    <a:p>
                      <a:pPr>
                        <a:defRPr sz="850" b="1">
                          <a:solidFill>
                            <a:srgbClr val="2563EB"/>
                          </a:solidFill>
                          <a:latin typeface="Segoe UI"/>
                        </a:defRPr>
                      </a:pPr>
                      <a:r>
                        <a:t>1. Top Matched Skills</a:t>
                      </a:r>
                    </a:p>
                  </a:txBody>
                  <a:tcPr>
                    <a:solidFill>
                      <a:srgbClr val="F1F5F9"/>
                    </a:solidFill>
                  </a:tcPr>
                </a:tc>
                <a:tc>
                  <a:txBody>
                    <a:bodyPr/>
                    <a:lstStyle/>
                    <a:p>
                      <a:pPr>
                        <a:defRPr sz="850">
                          <a:solidFill>
                            <a:srgbClr val="0F172A"/>
                          </a:solidFill>
                          <a:latin typeface="Segoe UI"/>
                        </a:defRPr>
                      </a:pPr>
                      <a:r>
                        <a:t>resumes</a:t>
                      </a:r>
                    </a:p>
                  </a:txBody>
                  <a:tcPr>
                    <a:solidFill>
                      <a:srgbClr val="F8FAFC"/>
                    </a:solidFill>
                  </a:tcPr>
                </a:tc>
                <a:tc>
                  <a:txBody>
                    <a:bodyPr/>
                    <a:lstStyle/>
                    <a:p>
                      <a:pPr>
                        <a:defRPr sz="850">
                          <a:solidFill>
                            <a:srgbClr val="0F172A"/>
                          </a:solidFill>
                          <a:latin typeface="Segoe UI"/>
                        </a:defRPr>
                      </a:pPr>
                      <a:r>
                        <a:t>$unwind -&gt; $group -&gt; $sort -&gt; $limit -&gt; $project</a:t>
                      </a:r>
                    </a:p>
                  </a:txBody>
                  <a:tcPr>
                    <a:solidFill>
                      <a:srgbClr val="F8FAFC"/>
                    </a:solidFill>
                  </a:tcPr>
                </a:tc>
                <a:tc>
                  <a:txBody>
                    <a:bodyPr/>
                    <a:lstStyle/>
                    <a:p>
                      <a:pPr>
                        <a:defRPr sz="850">
                          <a:solidFill>
                            <a:srgbClr val="0F172A"/>
                          </a:solidFill>
                          <a:latin typeface="Segoe UI"/>
                        </a:defRPr>
                      </a:pPr>
                      <a:r>
                        <a:t>$sum, $unwind</a:t>
                      </a:r>
                    </a:p>
                  </a:txBody>
                  <a:tcPr>
                    <a:solidFill>
                      <a:srgbClr val="F8FAFC"/>
                    </a:solidFill>
                  </a:tcPr>
                </a:tc>
                <a:tc>
                  <a:txBody>
                    <a:bodyPr/>
                    <a:lstStyle/>
                    <a:p>
                      <a:pPr>
                        <a:defRPr sz="850">
                          <a:solidFill>
                            <a:srgbClr val="0F172A"/>
                          </a:solidFill>
                          <a:latin typeface="Segoe UI"/>
                        </a:defRPr>
                      </a:pPr>
                      <a:r>
                        <a:t>Ranks technical competencies most prevalent across candidate profiles</a:t>
                      </a:r>
                    </a:p>
                  </a:txBody>
                  <a:tcPr>
                    <a:solidFill>
                      <a:srgbClr val="F8FAFC"/>
                    </a:solidFill>
                  </a:tcPr>
                </a:tc>
              </a:tr>
              <a:tr h="609600">
                <a:tc>
                  <a:txBody>
                    <a:bodyPr/>
                    <a:lstStyle/>
                    <a:p>
                      <a:pPr>
                        <a:defRPr sz="850" b="1">
                          <a:solidFill>
                            <a:srgbClr val="2563EB"/>
                          </a:solidFill>
                          <a:latin typeface="Segoe UI"/>
                        </a:defRPr>
                      </a:pPr>
                      <a:r>
                        <a:t>2. Common Skill Gaps</a:t>
                      </a:r>
                    </a:p>
                  </a:txBody>
                  <a:tcPr>
                    <a:solidFill>
                      <a:srgbClr val="F1F5F9"/>
                    </a:solidFill>
                  </a:tcPr>
                </a:tc>
                <a:tc>
                  <a:txBody>
                    <a:bodyPr/>
                    <a:lstStyle/>
                    <a:p>
                      <a:pPr>
                        <a:defRPr sz="850">
                          <a:solidFill>
                            <a:srgbClr val="0F172A"/>
                          </a:solidFill>
                          <a:latin typeface="Segoe UI"/>
                        </a:defRPr>
                      </a:pPr>
                      <a:r>
                        <a:t>analyses</a:t>
                      </a:r>
                    </a:p>
                  </a:txBody>
                  <a:tcPr>
                    <a:solidFill>
                      <a:srgbClr val="FFFFFF"/>
                    </a:solidFill>
                  </a:tcPr>
                </a:tc>
                <a:tc>
                  <a:txBody>
                    <a:bodyPr/>
                    <a:lstStyle/>
                    <a:p>
                      <a:pPr>
                        <a:defRPr sz="850">
                          <a:solidFill>
                            <a:srgbClr val="0F172A"/>
                          </a:solidFill>
                          <a:latin typeface="Segoe UI"/>
                        </a:defRPr>
                      </a:pPr>
                      <a:r>
                        <a:t>$unwind -&gt; $group -&gt; $sort -&gt; $limit -&gt; $project</a:t>
                      </a:r>
                    </a:p>
                  </a:txBody>
                  <a:tcPr>
                    <a:solidFill>
                      <a:srgbClr val="FFFFFF"/>
                    </a:solidFill>
                  </a:tcPr>
                </a:tc>
                <a:tc>
                  <a:txBody>
                    <a:bodyPr/>
                    <a:lstStyle/>
                    <a:p>
                      <a:pPr>
                        <a:defRPr sz="850">
                          <a:solidFill>
                            <a:srgbClr val="0F172A"/>
                          </a:solidFill>
                          <a:latin typeface="Segoe UI"/>
                        </a:defRPr>
                      </a:pPr>
                      <a:r>
                        <a:t>$sum, $sort: -1</a:t>
                      </a:r>
                    </a:p>
                  </a:txBody>
                  <a:tcPr>
                    <a:solidFill>
                      <a:srgbClr val="FFFFFF"/>
                    </a:solidFill>
                  </a:tcPr>
                </a:tc>
                <a:tc>
                  <a:txBody>
                    <a:bodyPr/>
                    <a:lstStyle/>
                    <a:p>
                      <a:pPr>
                        <a:defRPr sz="850">
                          <a:solidFill>
                            <a:srgbClr val="0F172A"/>
                          </a:solidFill>
                          <a:latin typeface="Segoe UI"/>
                        </a:defRPr>
                      </a:pPr>
                      <a:r>
                        <a:t>Identifies the highest-frequency missing skills across all evaluations</a:t>
                      </a:r>
                    </a:p>
                  </a:txBody>
                  <a:tcPr>
                    <a:solidFill>
                      <a:srgbClr val="FFFFFF"/>
                    </a:solidFill>
                  </a:tcPr>
                </a:tc>
              </a:tr>
              <a:tr h="609600">
                <a:tc>
                  <a:txBody>
                    <a:bodyPr/>
                    <a:lstStyle/>
                    <a:p>
                      <a:pPr>
                        <a:defRPr sz="850" b="1">
                          <a:solidFill>
                            <a:srgbClr val="2563EB"/>
                          </a:solidFill>
                          <a:latin typeface="Segoe UI"/>
                        </a:defRPr>
                      </a:pPr>
                      <a:r>
                        <a:t>3. Job Market Demand</a:t>
                      </a:r>
                    </a:p>
                  </a:txBody>
                  <a:tcPr>
                    <a:solidFill>
                      <a:srgbClr val="F1F5F9"/>
                    </a:solidFill>
                  </a:tcPr>
                </a:tc>
                <a:tc>
                  <a:txBody>
                    <a:bodyPr/>
                    <a:lstStyle/>
                    <a:p>
                      <a:pPr>
                        <a:defRPr sz="850">
                          <a:solidFill>
                            <a:srgbClr val="0F172A"/>
                          </a:solidFill>
                          <a:latin typeface="Segoe UI"/>
                        </a:defRPr>
                      </a:pPr>
                      <a:r>
                        <a:t>jobs</a:t>
                      </a:r>
                    </a:p>
                  </a:txBody>
                  <a:tcPr>
                    <a:solidFill>
                      <a:srgbClr val="F8FAFC"/>
                    </a:solidFill>
                  </a:tcPr>
                </a:tc>
                <a:tc>
                  <a:txBody>
                    <a:bodyPr/>
                    <a:lstStyle/>
                    <a:p>
                      <a:pPr>
                        <a:defRPr sz="850">
                          <a:solidFill>
                            <a:srgbClr val="0F172A"/>
                          </a:solidFill>
                          <a:latin typeface="Segoe UI"/>
                        </a:defRPr>
                      </a:pPr>
                      <a:r>
                        <a:t>$unwind -&gt; $group -&gt; $sort -&gt; $limit -&gt; $project</a:t>
                      </a:r>
                    </a:p>
                  </a:txBody>
                  <a:tcPr>
                    <a:solidFill>
                      <a:srgbClr val="F8FAFC"/>
                    </a:solidFill>
                  </a:tcPr>
                </a:tc>
                <a:tc>
                  <a:txBody>
                    <a:bodyPr/>
                    <a:lstStyle/>
                    <a:p>
                      <a:pPr>
                        <a:defRPr sz="850">
                          <a:solidFill>
                            <a:srgbClr val="0F172A"/>
                          </a:solidFill>
                          <a:latin typeface="Segoe UI"/>
                        </a:defRPr>
                      </a:pPr>
                      <a:r>
                        <a:t>$sum, $limit: 10</a:t>
                      </a:r>
                    </a:p>
                  </a:txBody>
                  <a:tcPr>
                    <a:solidFill>
                      <a:srgbClr val="F8FAFC"/>
                    </a:solidFill>
                  </a:tcPr>
                </a:tc>
                <a:tc>
                  <a:txBody>
                    <a:bodyPr/>
                    <a:lstStyle/>
                    <a:p>
                      <a:pPr>
                        <a:defRPr sz="850">
                          <a:solidFill>
                            <a:srgbClr val="0F172A"/>
                          </a:solidFill>
                          <a:latin typeface="Segoe UI"/>
                        </a:defRPr>
                      </a:pPr>
                      <a:r>
                        <a:t>Determines top industry skills required across current employer job postings</a:t>
                      </a:r>
                    </a:p>
                  </a:txBody>
                  <a:tcPr>
                    <a:solidFill>
                      <a:srgbClr val="F8FAFC"/>
                    </a:solidFill>
                  </a:tcPr>
                </a:tc>
              </a:tr>
              <a:tr h="609600">
                <a:tc>
                  <a:txBody>
                    <a:bodyPr/>
                    <a:lstStyle/>
                    <a:p>
                      <a:pPr>
                        <a:defRPr sz="850" b="1">
                          <a:solidFill>
                            <a:srgbClr val="2563EB"/>
                          </a:solidFill>
                          <a:latin typeface="Segoe UI"/>
                        </a:defRPr>
                      </a:pPr>
                      <a:r>
                        <a:t>4. Job Performance Join</a:t>
                      </a:r>
                    </a:p>
                  </a:txBody>
                  <a:tcPr>
                    <a:solidFill>
                      <a:srgbClr val="F1F5F9"/>
                    </a:solidFill>
                  </a:tcPr>
                </a:tc>
                <a:tc>
                  <a:txBody>
                    <a:bodyPr/>
                    <a:lstStyle/>
                    <a:p>
                      <a:pPr>
                        <a:defRPr sz="850">
                          <a:solidFill>
                            <a:srgbClr val="0F172A"/>
                          </a:solidFill>
                          <a:latin typeface="Segoe UI"/>
                        </a:defRPr>
                      </a:pPr>
                      <a:r>
                        <a:t>analyses + jobs</a:t>
                      </a:r>
                    </a:p>
                  </a:txBody>
                  <a:tcPr>
                    <a:solidFill>
                      <a:srgbClr val="FFFFFF"/>
                    </a:solidFill>
                  </a:tcPr>
                </a:tc>
                <a:tc>
                  <a:txBody>
                    <a:bodyPr/>
                    <a:lstStyle/>
                    <a:p>
                      <a:pPr>
                        <a:defRPr sz="850">
                          <a:solidFill>
                            <a:srgbClr val="0F172A"/>
                          </a:solidFill>
                          <a:latin typeface="Segoe UI"/>
                        </a:defRPr>
                      </a:pPr>
                      <a:r>
                        <a:t>$lookup -&gt; $unwind -&gt; $group -&gt; $sort -&gt; $project</a:t>
                      </a:r>
                    </a:p>
                  </a:txBody>
                  <a:tcPr>
                    <a:solidFill>
                      <a:srgbClr val="FFFFFF"/>
                    </a:solidFill>
                  </a:tcPr>
                </a:tc>
                <a:tc>
                  <a:txBody>
                    <a:bodyPr/>
                    <a:lstStyle/>
                    <a:p>
                      <a:pPr>
                        <a:defRPr sz="850">
                          <a:solidFill>
                            <a:srgbClr val="0F172A"/>
                          </a:solidFill>
                          <a:latin typeface="Segoe UI"/>
                        </a:defRPr>
                      </a:pPr>
                      <a:r>
                        <a:t>$lookup, $avg, $round</a:t>
                      </a:r>
                    </a:p>
                  </a:txBody>
                  <a:tcPr>
                    <a:solidFill>
                      <a:srgbClr val="FFFFFF"/>
                    </a:solidFill>
                  </a:tcPr>
                </a:tc>
                <a:tc>
                  <a:txBody>
                    <a:bodyPr/>
                    <a:lstStyle/>
                    <a:p>
                      <a:pPr>
                        <a:defRPr sz="850">
                          <a:solidFill>
                            <a:srgbClr val="0F172A"/>
                          </a:solidFill>
                          <a:latin typeface="Segoe UI"/>
                        </a:defRPr>
                      </a:pPr>
                      <a:r>
                        <a:t>Joins analyses with jobs to calculate candidate volume &amp; average score per role</a:t>
                      </a:r>
                    </a:p>
                  </a:txBody>
                  <a:tcPr>
                    <a:solidFill>
                      <a:srgbClr val="FFFFFF"/>
                    </a:solidFill>
                  </a:tcPr>
                </a:tc>
              </a:tr>
              <a:tr h="609600">
                <a:tc>
                  <a:txBody>
                    <a:bodyPr/>
                    <a:lstStyle/>
                    <a:p>
                      <a:pPr>
                        <a:defRPr sz="850" b="1">
                          <a:solidFill>
                            <a:srgbClr val="2563EB"/>
                          </a:solidFill>
                          <a:latin typeface="Segoe UI"/>
                        </a:defRPr>
                      </a:pPr>
                      <a:r>
                        <a:t>5. Score Bucketing</a:t>
                      </a:r>
                    </a:p>
                  </a:txBody>
                  <a:tcPr>
                    <a:solidFill>
                      <a:srgbClr val="F1F5F9"/>
                    </a:solidFill>
                  </a:tcPr>
                </a:tc>
                <a:tc>
                  <a:txBody>
                    <a:bodyPr/>
                    <a:lstStyle/>
                    <a:p>
                      <a:pPr>
                        <a:defRPr sz="850">
                          <a:solidFill>
                            <a:srgbClr val="0F172A"/>
                          </a:solidFill>
                          <a:latin typeface="Segoe UI"/>
                        </a:defRPr>
                      </a:pPr>
                      <a:r>
                        <a:t>analyses</a:t>
                      </a:r>
                    </a:p>
                  </a:txBody>
                  <a:tcPr>
                    <a:solidFill>
                      <a:srgbClr val="F8FAFC"/>
                    </a:solidFill>
                  </a:tcPr>
                </a:tc>
                <a:tc>
                  <a:txBody>
                    <a:bodyPr/>
                    <a:lstStyle/>
                    <a:p>
                      <a:pPr>
                        <a:defRPr sz="850">
                          <a:solidFill>
                            <a:srgbClr val="0F172A"/>
                          </a:solidFill>
                          <a:latin typeface="Segoe UI"/>
                        </a:defRPr>
                      </a:pPr>
                      <a:r>
                        <a:t>$bucket (boundaries: [0, 40, 60, 80, 101])</a:t>
                      </a:r>
                    </a:p>
                  </a:txBody>
                  <a:tcPr>
                    <a:solidFill>
                      <a:srgbClr val="F8FAFC"/>
                    </a:solidFill>
                  </a:tcPr>
                </a:tc>
                <a:tc>
                  <a:txBody>
                    <a:bodyPr/>
                    <a:lstStyle/>
                    <a:p>
                      <a:pPr>
                        <a:defRPr sz="850">
                          <a:solidFill>
                            <a:srgbClr val="0F172A"/>
                          </a:solidFill>
                          <a:latin typeface="Segoe UI"/>
                        </a:defRPr>
                      </a:pPr>
                      <a:r>
                        <a:t>$bucket, $avg, $sum</a:t>
                      </a:r>
                    </a:p>
                  </a:txBody>
                  <a:tcPr>
                    <a:solidFill>
                      <a:srgbClr val="F8FAFC"/>
                    </a:solidFill>
                  </a:tcPr>
                </a:tc>
                <a:tc>
                  <a:txBody>
                    <a:bodyPr/>
                    <a:lstStyle/>
                    <a:p>
                      <a:pPr>
                        <a:defRPr sz="850">
                          <a:solidFill>
                            <a:srgbClr val="0F172A"/>
                          </a:solidFill>
                          <a:latin typeface="Segoe UI"/>
                        </a:defRPr>
                      </a:pPr>
                      <a:r>
                        <a:t>Categorizes candidate scores into 4 tiers: Low, Moderate, High, Exceptional</a:t>
                      </a:r>
                    </a:p>
                  </a:txBody>
                  <a:tcPr>
                    <a:solidFill>
                      <a:srgbClr val="F8FAFC"/>
                    </a:solidFill>
                  </a:tcPr>
                </a:tc>
              </a:tr>
            </a:tbl>
          </a:graphicData>
        </a:graphic>
      </p:graphicFrame>
      <p:sp>
        <p:nvSpPr>
          <p:cNvPr id="8" name="Rounded Rectangle 7"/>
          <p:cNvSpPr/>
          <p:nvPr/>
        </p:nvSpPr>
        <p:spPr>
          <a:xfrm>
            <a:off x="731520" y="5166360"/>
            <a:ext cx="10728655" cy="1097280"/>
          </a:xfrm>
          <a:prstGeom prst="roundRect">
            <a:avLst/>
          </a:prstGeom>
          <a:solidFill>
            <a:srgbClr val="F1F5F9"/>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12080"/>
            <a:ext cx="10362895" cy="1005840"/>
          </a:xfrm>
          <a:prstGeom prst="rect">
            <a:avLst/>
          </a:prstGeom>
          <a:noFill/>
        </p:spPr>
        <p:txBody>
          <a:bodyPr wrap="none">
            <a:spAutoFit/>
          </a:bodyPr>
          <a:lstStyle/>
          <a:p>
            <a:pPr>
              <a:defRPr b="1" sz="1050">
                <a:solidFill>
                  <a:srgbClr val="0D9488"/>
                </a:solidFill>
              </a:defRPr>
            </a:pPr>
            <a:r>
              <a:t>Why MongoDB Aggregations Outperform Application-Level Python Loops:</a:t>
            </a:r>
          </a:p>
          <a:p>
            <a:pPr>
              <a:defRPr sz="900">
                <a:solidFill>
                  <a:srgbClr val="0F172A"/>
                </a:solidFill>
              </a:defRPr>
            </a:pPr>
            <a:r>
              <a:t>• Native C++ Engine Execution: All unwinding, grouping, and averaging execute inside the MongoDB database engine in native C++.</a:t>
            </a:r>
            <a:br/>
            <a:r>
              <a:t>• Network Bandwidth Conservation: Instead of sending 10,000 documents over TCP for Python processing, only the compact 10-line aggregated result is transmitted.</a:t>
            </a:r>
            <a:br/>
            <a:r>
              <a:t>• Pipeline Memory Limit Handling: Operates well within MongoDB's 100MB RAM stage limit with selective indexing.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Deep Dive: Cross-Collection Foreign Join ($lookup)</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11 / 18</a:t>
            </a:r>
          </a:p>
        </p:txBody>
      </p:sp>
      <p:sp>
        <p:nvSpPr>
          <p:cNvPr id="7" name="Rounded Rectangle 6"/>
          <p:cNvSpPr/>
          <p:nvPr/>
        </p:nvSpPr>
        <p:spPr>
          <a:xfrm>
            <a:off x="731520" y="1371600"/>
            <a:ext cx="5486400" cy="4846320"/>
          </a:xfrm>
          <a:prstGeom prst="roundRect">
            <a:avLst/>
          </a:prstGeom>
          <a:solidFill>
            <a:srgbClr val="1820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5120640" cy="4663440"/>
          </a:xfrm>
          <a:prstGeom prst="rect">
            <a:avLst/>
          </a:prstGeom>
          <a:noFill/>
        </p:spPr>
        <p:txBody>
          <a:bodyPr wrap="square">
            <a:spAutoFit/>
          </a:bodyPr>
          <a:lstStyle/>
          <a:p>
            <a:pPr>
              <a:defRPr sz="850">
                <a:solidFill>
                  <a:srgbClr val="38BDF8"/>
                </a:solidFill>
                <a:latin typeface="Consolas"/>
              </a:defRPr>
            </a:pPr>
            <a:r>
              <a:t># database/aggregations.py (Pipeline 4: $lookup Join)</a:t>
            </a:r>
          </a:p>
          <a:p>
            <a:pPr>
              <a:defRPr sz="800">
                <a:solidFill>
                  <a:srgbClr val="E2E8F0"/>
                </a:solidFill>
                <a:latin typeface="Consolas"/>
              </a:defRPr>
            </a:pPr>
            <a:r>
              <a:t>pipeline = [</a:t>
            </a:r>
            <a:br/>
            <a:r>
              <a:t>  {</a:t>
            </a:r>
            <a:br/>
            <a:r>
              <a:t>    "$lookup": {</a:t>
            </a:r>
            <a:br/>
            <a:r>
              <a:t>      "from": "jobs",</a:t>
            </a:r>
            <a:br/>
            <a:r>
              <a:t>      "localField": "job_id",</a:t>
            </a:r>
            <a:br/>
            <a:r>
              <a:t>      "foreignField": "job_id",</a:t>
            </a:r>
            <a:br/>
            <a:r>
              <a:t>      "as": "job_details"</a:t>
            </a:r>
            <a:br/>
            <a:r>
              <a:t>    }</a:t>
            </a:r>
            <a:br/>
            <a:r>
              <a:t>  },</a:t>
            </a:r>
            <a:br/>
            <a:r>
              <a:t>  {"$unwind": "$job_details"},</a:t>
            </a:r>
            <a:br/>
            <a:r>
              <a:t>  {</a:t>
            </a:r>
            <a:br/>
            <a:r>
              <a:t>    "$group": {</a:t>
            </a:r>
            <a:br/>
            <a:r>
              <a:t>      "_id": "$job_id",</a:t>
            </a:r>
            <a:br/>
            <a:r>
              <a:t>      "job_title": {"$first": "$job_details.title"},</a:t>
            </a:r>
            <a:br/>
            <a:r>
              <a:t>      "company": {"$first": "$job_details.company"},</a:t>
            </a:r>
            <a:br/>
            <a:r>
              <a:t>      "avg_score": {"$avg": "$match_score"},</a:t>
            </a:r>
            <a:br/>
            <a:r>
              <a:t>      "total_candidates": {"$sum": 1}</a:t>
            </a:r>
            <a:br/>
            <a:r>
              <a:t>    }</a:t>
            </a:r>
            <a:br/>
            <a:r>
              <a:t>  },</a:t>
            </a:r>
            <a:br/>
            <a:r>
              <a:t>  {"$sort": {"avg_score": -1}},</a:t>
            </a:r>
            <a:br/>
            <a:r>
              <a:t>  {</a:t>
            </a:r>
            <a:br/>
            <a:r>
              <a:t>    "$project": {</a:t>
            </a:r>
            <a:br/>
            <a:r>
              <a:t>      "_id": 0, "job_id": "$_id",</a:t>
            </a:r>
            <a:br/>
            <a:r>
              <a:t>      "job_title": 1, "company": 1,</a:t>
            </a:r>
            <a:br/>
            <a:r>
              <a:t>      "avg_score": {"$round": ["$avg_score", 1]},</a:t>
            </a:r>
            <a:br/>
            <a:r>
              <a:t>      "total_candidates": 1</a:t>
            </a:r>
            <a:br/>
            <a:r>
              <a:t>    }</a:t>
            </a:r>
            <a:br/>
            <a:r>
              <a:t>  }</a:t>
            </a:r>
            <a:br/>
            <a:r>
              <a:t>]</a:t>
            </a:r>
          </a:p>
        </p:txBody>
      </p:sp>
      <p:sp>
        <p:nvSpPr>
          <p:cNvPr id="9" name="Rounded Rectangle 8"/>
          <p:cNvSpPr/>
          <p:nvPr/>
        </p:nvSpPr>
        <p:spPr>
          <a:xfrm>
            <a:off x="6400800" y="1371600"/>
            <a:ext cx="5059375"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08760"/>
            <a:ext cx="4693615" cy="4480560"/>
          </a:xfrm>
          <a:prstGeom prst="rect">
            <a:avLst/>
          </a:prstGeom>
          <a:noFill/>
        </p:spPr>
        <p:txBody>
          <a:bodyPr wrap="square">
            <a:spAutoFit/>
          </a:bodyPr>
          <a:lstStyle/>
          <a:p>
            <a:pPr>
              <a:defRPr b="1" sz="1400">
                <a:solidFill>
                  <a:srgbClr val="2563EB"/>
                </a:solidFill>
              </a:defRPr>
            </a:pPr>
            <a:r>
              <a:t>Stage-by-Stage Join Mechanics</a:t>
            </a:r>
          </a:p>
          <a:p>
            <a:pPr>
              <a:spcBef>
                <a:spcPts val="700"/>
              </a:spcBef>
            </a:pPr>
            <a:r>
              <a:rPr sz="950" b="1">
                <a:solidFill>
                  <a:srgbClr val="2563EB"/>
                </a:solidFill>
                <a:latin typeface="Segoe UI"/>
              </a:rPr>
              <a:t>• 1. $lookup Stage (Left Outer Join): </a:t>
            </a:r>
            <a:r>
              <a:rPr sz="900" b="0">
                <a:solidFill>
                  <a:srgbClr val="64748B"/>
                </a:solidFill>
                <a:latin typeface="Segoe UI"/>
              </a:rPr>
              <a:t>Correlates documents in analyses with matching job_id documents in the jobs collection, creating a nested array job_details.</a:t>
            </a:r>
          </a:p>
          <a:p>
            <a:pPr>
              <a:spcBef>
                <a:spcPts val="700"/>
              </a:spcBef>
            </a:pPr>
            <a:r>
              <a:rPr sz="950" b="1">
                <a:solidFill>
                  <a:srgbClr val="2563EB"/>
                </a:solidFill>
                <a:latin typeface="Segoe UI"/>
              </a:rPr>
              <a:t>• 2. $unwind Stage (Array Flattening): </a:t>
            </a:r>
            <a:r>
              <a:rPr sz="900" b="0">
                <a:solidFill>
                  <a:srgbClr val="64748B"/>
                </a:solidFill>
                <a:latin typeface="Segoe UI"/>
              </a:rPr>
              <a:t>Flattens the single-element job_details array into top-level document fields so scalar operators can access title and company.</a:t>
            </a:r>
          </a:p>
          <a:p>
            <a:pPr>
              <a:spcBef>
                <a:spcPts val="700"/>
              </a:spcBef>
            </a:pPr>
            <a:r>
              <a:rPr sz="950" b="1">
                <a:solidFill>
                  <a:srgbClr val="2563EB"/>
                </a:solidFill>
                <a:latin typeface="Segoe UI"/>
              </a:rPr>
              <a:t>• 3. $group Stage (Multi-Metric Aggregation): </a:t>
            </a:r>
            <a:r>
              <a:rPr sz="900" b="0">
                <a:solidFill>
                  <a:srgbClr val="64748B"/>
                </a:solidFill>
                <a:latin typeface="Segoe UI"/>
              </a:rPr>
              <a:t>Groups documents by target job ID. Calculates $avg match score, $sum total evaluations, and retains company metadata using $first.</a:t>
            </a:r>
          </a:p>
          <a:p>
            <a:pPr>
              <a:spcBef>
                <a:spcPts val="700"/>
              </a:spcBef>
            </a:pPr>
            <a:r>
              <a:rPr sz="950" b="1">
                <a:solidFill>
                  <a:srgbClr val="2563EB"/>
                </a:solidFill>
                <a:latin typeface="Segoe UI"/>
              </a:rPr>
              <a:t>• 4. $sort Stage (Ranking): </a:t>
            </a:r>
            <a:r>
              <a:rPr sz="900" b="0">
                <a:solidFill>
                  <a:srgbClr val="64748B"/>
                </a:solidFill>
                <a:latin typeface="Segoe UI"/>
              </a:rPr>
              <a:t>Sorts the aggregated job roles in descending order of average score (avg_score: -1).</a:t>
            </a:r>
          </a:p>
          <a:p>
            <a:pPr>
              <a:spcBef>
                <a:spcPts val="700"/>
              </a:spcBef>
            </a:pPr>
            <a:r>
              <a:rPr sz="950" b="1">
                <a:solidFill>
                  <a:srgbClr val="2563EB"/>
                </a:solidFill>
                <a:latin typeface="Segoe UI"/>
              </a:rPr>
              <a:t>• 5. $project &amp; $round Stage (Data Shaping): </a:t>
            </a:r>
            <a:r>
              <a:rPr sz="900" b="0">
                <a:solidFill>
                  <a:srgbClr val="64748B"/>
                </a:solidFill>
                <a:latin typeface="Segoe UI"/>
              </a:rPr>
              <a:t>Shapes the final output document, suppressing _id and applying $round to limit floating-point averages to 1 decimal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RAG Architecture: MongoDB Vector Store + Google Gemini</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12 / 18</a:t>
            </a:r>
          </a:p>
        </p:txBody>
      </p:sp>
      <p:sp>
        <p:nvSpPr>
          <p:cNvPr id="7" name="Rounded Rectangle 6"/>
          <p:cNvSpPr/>
          <p:nvPr/>
        </p:nvSpPr>
        <p:spPr>
          <a:xfrm>
            <a:off x="731520" y="1371600"/>
            <a:ext cx="3474720" cy="347472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347472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474720" cy="640080"/>
          </a:xfrm>
          <a:prstGeom prst="rect">
            <a:avLst/>
          </a:prstGeom>
          <a:noFill/>
        </p:spPr>
        <p:txBody>
          <a:bodyPr wrap="none">
            <a:spAutoFit/>
          </a:bodyPr>
          <a:lstStyle/>
          <a:p>
            <a:pPr algn="ctr">
              <a:defRPr b="1" sz="1100">
                <a:solidFill>
                  <a:srgbClr val="FFFFFF"/>
                </a:solidFill>
              </a:defRPr>
            </a:pPr>
            <a:r>
              <a:t>Step 1: RETRIEVE</a:t>
            </a:r>
          </a:p>
          <a:p>
            <a:pPr algn="ctr">
              <a:defRPr sz="950">
                <a:solidFill>
                  <a:srgbClr val="FFFFFF"/>
                </a:solidFill>
              </a:defRPr>
            </a:pPr>
            <a:r>
              <a:t>MongoDB Vector Store</a:t>
            </a:r>
          </a:p>
        </p:txBody>
      </p:sp>
      <p:sp>
        <p:nvSpPr>
          <p:cNvPr id="10" name="TextBox 9"/>
          <p:cNvSpPr txBox="1"/>
          <p:nvPr/>
        </p:nvSpPr>
        <p:spPr>
          <a:xfrm>
            <a:off x="868680" y="2057400"/>
            <a:ext cx="3200400" cy="2651760"/>
          </a:xfrm>
          <a:prstGeom prst="rect">
            <a:avLst/>
          </a:prstGeom>
          <a:noFill/>
        </p:spPr>
        <p:txBody>
          <a:bodyPr wrap="square">
            <a:spAutoFit/>
          </a:bodyPr>
          <a:lstStyle/>
          <a:p>
            <a:pPr>
              <a:spcBef>
                <a:spcPts val="400"/>
              </a:spcBef>
              <a:defRPr sz="950">
                <a:solidFill>
                  <a:srgbClr val="0F172A"/>
                </a:solidFill>
              </a:defRPr>
            </a:pPr>
            <a:r>
              <a:t>• Collection: knowledge_vectors</a:t>
            </a:r>
          </a:p>
          <a:p>
            <a:pPr>
              <a:spcBef>
                <a:spcPts val="400"/>
              </a:spcBef>
              <a:defRPr sz="950">
                <a:solidFill>
                  <a:srgbClr val="0F172A"/>
                </a:solidFill>
              </a:defRPr>
            </a:pPr>
            <a:r>
              <a:t>• Dense 128-dim float embeddings</a:t>
            </a:r>
          </a:p>
          <a:p>
            <a:pPr>
              <a:spcBef>
                <a:spcPts val="400"/>
              </a:spcBef>
              <a:defRPr sz="950">
                <a:solidFill>
                  <a:srgbClr val="0F172A"/>
                </a:solidFill>
              </a:defRPr>
            </a:pPr>
            <a:r>
              <a:t>• Candidate gap skills converted to query vector</a:t>
            </a:r>
          </a:p>
          <a:p>
            <a:pPr>
              <a:spcBef>
                <a:spcPts val="400"/>
              </a:spcBef>
              <a:defRPr sz="950">
                <a:solidFill>
                  <a:srgbClr val="0F172A"/>
                </a:solidFill>
              </a:defRPr>
            </a:pPr>
            <a:r>
              <a:t>• Computes Cosine Similarity against stored curriculum chunks</a:t>
            </a:r>
          </a:p>
          <a:p>
            <a:pPr>
              <a:spcBef>
                <a:spcPts val="400"/>
              </a:spcBef>
              <a:defRPr sz="950">
                <a:solidFill>
                  <a:srgbClr val="0F172A"/>
                </a:solidFill>
              </a:defRPr>
            </a:pPr>
            <a:r>
              <a:t>• Top-K relevant docs fetched</a:t>
            </a:r>
          </a:p>
        </p:txBody>
      </p:sp>
      <p:sp>
        <p:nvSpPr>
          <p:cNvPr id="11" name="Rounded Rectangle 10"/>
          <p:cNvSpPr/>
          <p:nvPr/>
        </p:nvSpPr>
        <p:spPr>
          <a:xfrm>
            <a:off x="4370832" y="1371600"/>
            <a:ext cx="3474720" cy="347472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371600"/>
            <a:ext cx="3474720" cy="6400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1371600"/>
            <a:ext cx="3474720" cy="640080"/>
          </a:xfrm>
          <a:prstGeom prst="rect">
            <a:avLst/>
          </a:prstGeom>
          <a:noFill/>
        </p:spPr>
        <p:txBody>
          <a:bodyPr wrap="none">
            <a:spAutoFit/>
          </a:bodyPr>
          <a:lstStyle/>
          <a:p>
            <a:pPr algn="ctr">
              <a:defRPr b="1" sz="1100">
                <a:solidFill>
                  <a:srgbClr val="FFFFFF"/>
                </a:solidFill>
              </a:defRPr>
            </a:pPr>
            <a:r>
              <a:t>Step 2: AUGMENT</a:t>
            </a:r>
          </a:p>
          <a:p>
            <a:pPr algn="ctr">
              <a:defRPr sz="950">
                <a:solidFill>
                  <a:srgbClr val="FFFFFF"/>
                </a:solidFill>
              </a:defRPr>
            </a:pPr>
            <a:r>
              <a:t>Contextual Prompt Assembly</a:t>
            </a:r>
          </a:p>
        </p:txBody>
      </p:sp>
      <p:sp>
        <p:nvSpPr>
          <p:cNvPr id="14" name="TextBox 13"/>
          <p:cNvSpPr txBox="1"/>
          <p:nvPr/>
        </p:nvSpPr>
        <p:spPr>
          <a:xfrm>
            <a:off x="4507992" y="2057400"/>
            <a:ext cx="3200400" cy="2651760"/>
          </a:xfrm>
          <a:prstGeom prst="rect">
            <a:avLst/>
          </a:prstGeom>
          <a:noFill/>
        </p:spPr>
        <p:txBody>
          <a:bodyPr wrap="square">
            <a:spAutoFit/>
          </a:bodyPr>
          <a:lstStyle/>
          <a:p>
            <a:pPr>
              <a:spcBef>
                <a:spcPts val="400"/>
              </a:spcBef>
              <a:defRPr sz="950">
                <a:solidFill>
                  <a:srgbClr val="0F172A"/>
                </a:solidFill>
              </a:defRPr>
            </a:pPr>
            <a:r>
              <a:t>• Candidate Profile (skills, exp)</a:t>
            </a:r>
          </a:p>
          <a:p>
            <a:pPr>
              <a:spcBef>
                <a:spcPts val="400"/>
              </a:spcBef>
              <a:defRPr sz="950">
                <a:solidFill>
                  <a:srgbClr val="0F172A"/>
                </a:solidFill>
              </a:defRPr>
            </a:pPr>
            <a:r>
              <a:t>• Employer Job Spec &amp; gaps</a:t>
            </a:r>
          </a:p>
          <a:p>
            <a:pPr>
              <a:spcBef>
                <a:spcPts val="400"/>
              </a:spcBef>
              <a:defRPr sz="950">
                <a:solidFill>
                  <a:srgbClr val="0F172A"/>
                </a:solidFill>
              </a:defRPr>
            </a:pPr>
            <a:r>
              <a:t>• Retrieved MongoDB Curriculum &amp; Project Architectures</a:t>
            </a:r>
          </a:p>
          <a:p>
            <a:pPr>
              <a:spcBef>
                <a:spcPts val="400"/>
              </a:spcBef>
              <a:defRPr sz="950">
                <a:solidFill>
                  <a:srgbClr val="0F172A"/>
                </a:solidFill>
              </a:defRPr>
            </a:pPr>
            <a:r>
              <a:t>• Injected into strictly structured system prompt</a:t>
            </a:r>
          </a:p>
          <a:p>
            <a:pPr>
              <a:spcBef>
                <a:spcPts val="400"/>
              </a:spcBef>
              <a:defRPr sz="950">
                <a:solidFill>
                  <a:srgbClr val="0F172A"/>
                </a:solidFill>
              </a:defRPr>
            </a:pPr>
            <a:r>
              <a:t>• Eliminates LLM hallucination</a:t>
            </a:r>
          </a:p>
        </p:txBody>
      </p:sp>
      <p:sp>
        <p:nvSpPr>
          <p:cNvPr id="15" name="Rounded Rectangle 14"/>
          <p:cNvSpPr/>
          <p:nvPr/>
        </p:nvSpPr>
        <p:spPr>
          <a:xfrm>
            <a:off x="8010144" y="1371600"/>
            <a:ext cx="3474720" cy="3474720"/>
          </a:xfrm>
          <a:prstGeom prst="roundRect">
            <a:avLst/>
          </a:prstGeom>
          <a:solidFill>
            <a:srgbClr val="FFFF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10144" y="1371600"/>
            <a:ext cx="3474720" cy="64008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10144" y="1371600"/>
            <a:ext cx="3474720" cy="640080"/>
          </a:xfrm>
          <a:prstGeom prst="rect">
            <a:avLst/>
          </a:prstGeom>
          <a:noFill/>
        </p:spPr>
        <p:txBody>
          <a:bodyPr wrap="none">
            <a:spAutoFit/>
          </a:bodyPr>
          <a:lstStyle/>
          <a:p>
            <a:pPr algn="ctr">
              <a:defRPr b="1" sz="1100">
                <a:solidFill>
                  <a:srgbClr val="FFFFFF"/>
                </a:solidFill>
              </a:defRPr>
            </a:pPr>
            <a:r>
              <a:t>Step 3: GENERATE</a:t>
            </a:r>
          </a:p>
          <a:p>
            <a:pPr algn="ctr">
              <a:defRPr sz="950">
                <a:solidFill>
                  <a:srgbClr val="FFFFFF"/>
                </a:solidFill>
              </a:defRPr>
            </a:pPr>
            <a:r>
              <a:t>Google Gemini 2.5 Flash</a:t>
            </a:r>
          </a:p>
        </p:txBody>
      </p:sp>
      <p:sp>
        <p:nvSpPr>
          <p:cNvPr id="18" name="TextBox 17"/>
          <p:cNvSpPr txBox="1"/>
          <p:nvPr/>
        </p:nvSpPr>
        <p:spPr>
          <a:xfrm>
            <a:off x="8147304" y="2057400"/>
            <a:ext cx="3200400" cy="2651760"/>
          </a:xfrm>
          <a:prstGeom prst="rect">
            <a:avLst/>
          </a:prstGeom>
          <a:noFill/>
        </p:spPr>
        <p:txBody>
          <a:bodyPr wrap="square">
            <a:spAutoFit/>
          </a:bodyPr>
          <a:lstStyle/>
          <a:p>
            <a:pPr>
              <a:spcBef>
                <a:spcPts val="400"/>
              </a:spcBef>
              <a:defRPr sz="950">
                <a:solidFill>
                  <a:srgbClr val="0F172A"/>
                </a:solidFill>
              </a:defRPr>
            </a:pPr>
            <a:r>
              <a:t>• Synthesizes 3-Week Study Plan</a:t>
            </a:r>
          </a:p>
          <a:p>
            <a:pPr>
              <a:spcBef>
                <a:spcPts val="400"/>
              </a:spcBef>
              <a:defRPr sz="950">
                <a:solidFill>
                  <a:srgbClr val="0F172A"/>
                </a:solidFill>
              </a:defRPr>
            </a:pPr>
            <a:r>
              <a:t>• Week-by-week hourly milestones</a:t>
            </a:r>
          </a:p>
          <a:p>
            <a:pPr>
              <a:spcBef>
                <a:spcPts val="400"/>
              </a:spcBef>
              <a:defRPr sz="950">
                <a:solidFill>
                  <a:srgbClr val="0F172A"/>
                </a:solidFill>
              </a:defRPr>
            </a:pPr>
            <a:r>
              <a:t>• Production-grade Project Blueprint</a:t>
            </a:r>
          </a:p>
          <a:p>
            <a:pPr>
              <a:spcBef>
                <a:spcPts val="400"/>
              </a:spcBef>
              <a:defRPr sz="950">
                <a:solidFill>
                  <a:srgbClr val="0F172A"/>
                </a:solidFill>
              </a:defRPr>
            </a:pPr>
            <a:r>
              <a:t>• Recommended tech stack &amp; DB schema</a:t>
            </a:r>
          </a:p>
          <a:p>
            <a:pPr>
              <a:spcBef>
                <a:spcPts val="400"/>
              </a:spcBef>
              <a:defRPr sz="950">
                <a:solidFill>
                  <a:srgbClr val="0F172A"/>
                </a:solidFill>
              </a:defRPr>
            </a:pPr>
            <a:r>
              <a:t>• Resume-ready bullet points</a:t>
            </a:r>
          </a:p>
        </p:txBody>
      </p:sp>
      <p:sp>
        <p:nvSpPr>
          <p:cNvPr id="19" name="Rounded Rectangle 18"/>
          <p:cNvSpPr/>
          <p:nvPr/>
        </p:nvSpPr>
        <p:spPr>
          <a:xfrm>
            <a:off x="731520" y="5029200"/>
            <a:ext cx="10728655" cy="1188720"/>
          </a:xfrm>
          <a:prstGeom prst="roundRect">
            <a:avLst/>
          </a:prstGeom>
          <a:solidFill>
            <a:srgbClr val="F1F5F9"/>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074920"/>
            <a:ext cx="10362895" cy="1097280"/>
          </a:xfrm>
          <a:prstGeom prst="rect">
            <a:avLst/>
          </a:prstGeom>
          <a:noFill/>
        </p:spPr>
        <p:txBody>
          <a:bodyPr wrap="none">
            <a:spAutoFit/>
          </a:bodyPr>
          <a:lstStyle/>
          <a:p>
            <a:pPr>
              <a:defRPr b="1" sz="1050">
                <a:solidFill>
                  <a:srgbClr val="2563EB"/>
                </a:solidFill>
              </a:defRPr>
            </a:pPr>
            <a:r>
              <a:t>Mathematical Formulation: Dual-Metric Benchmarking &amp; Vector Retrieval</a:t>
            </a:r>
          </a:p>
          <a:p>
            <a:pPr>
              <a:defRPr sz="950">
                <a:solidFill>
                  <a:srgbClr val="0D9488"/>
                </a:solidFill>
                <a:latin typeface="Consolas"/>
              </a:defRPr>
            </a:pPr>
            <a:r>
              <a:t>• Composite Score = 0.70 * (Direct Taxonomy Overlap) + 0.30 * (TF-IDF Cosine Similarity)</a:t>
            </a:r>
            <a:br/>
            <a:r>
              <a:t>• Vector Retrieval Cosine Similarity = (A • B) / (||A|| * ||B||)  over 128-dimensional embeddings in knowledge_vectors.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Application Modules &amp; Streamlit User Experience</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13 / 18</a:t>
            </a:r>
          </a:p>
        </p:txBody>
      </p:sp>
      <p:sp>
        <p:nvSpPr>
          <p:cNvPr id="7" name="Rounded Rectangle 6"/>
          <p:cNvSpPr/>
          <p:nvPr/>
        </p:nvSpPr>
        <p:spPr>
          <a:xfrm>
            <a:off x="731520" y="1371600"/>
            <a:ext cx="5257800" cy="22860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525780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5257800" cy="411480"/>
          </a:xfrm>
          <a:prstGeom prst="rect">
            <a:avLst/>
          </a:prstGeom>
          <a:noFill/>
        </p:spPr>
        <p:txBody>
          <a:bodyPr wrap="none">
            <a:spAutoFit/>
          </a:bodyPr>
          <a:lstStyle/>
          <a:p>
            <a:pPr algn="ctr">
              <a:defRPr b="1" sz="1050">
                <a:solidFill>
                  <a:srgbClr val="FFFFFF"/>
                </a:solidFill>
              </a:defRPr>
            </a:pPr>
            <a:r>
              <a:t>1. Skill Gap Lab &amp; PDF Ingestion</a:t>
            </a:r>
          </a:p>
        </p:txBody>
      </p:sp>
      <p:sp>
        <p:nvSpPr>
          <p:cNvPr id="10" name="TextBox 9"/>
          <p:cNvSpPr txBox="1"/>
          <p:nvPr/>
        </p:nvSpPr>
        <p:spPr>
          <a:xfrm>
            <a:off x="868680" y="1828800"/>
            <a:ext cx="4983480" cy="1737360"/>
          </a:xfrm>
          <a:prstGeom prst="rect">
            <a:avLst/>
          </a:prstGeom>
          <a:noFill/>
        </p:spPr>
        <p:txBody>
          <a:bodyPr wrap="square">
            <a:spAutoFit/>
          </a:bodyPr>
          <a:lstStyle/>
          <a:p>
            <a:pPr>
              <a:spcBef>
                <a:spcPts val="300"/>
              </a:spcBef>
              <a:defRPr sz="900">
                <a:solidFill>
                  <a:srgbClr val="0F172A"/>
                </a:solidFill>
              </a:defRPr>
            </a:pPr>
            <a:r>
              <a:t>• Direct drag-and-drop resume PDF upload</a:t>
            </a:r>
          </a:p>
          <a:p>
            <a:pPr>
              <a:spcBef>
                <a:spcPts val="300"/>
              </a:spcBef>
              <a:defRPr sz="900">
                <a:solidFill>
                  <a:srgbClr val="0F172A"/>
                </a:solidFill>
              </a:defRPr>
            </a:pPr>
            <a:r>
              <a:t>• PyPDF text extraction &amp; email regex identification</a:t>
            </a:r>
          </a:p>
          <a:p>
            <a:pPr>
              <a:spcBef>
                <a:spcPts val="300"/>
              </a:spcBef>
              <a:defRPr sz="900">
                <a:solidFill>
                  <a:srgbClr val="0F172A"/>
                </a:solidFill>
              </a:defRPr>
            </a:pPr>
            <a:r>
              <a:t>• Automatic matching against 30+ canonical skills</a:t>
            </a:r>
          </a:p>
          <a:p>
            <a:pPr>
              <a:spcBef>
                <a:spcPts val="300"/>
              </a:spcBef>
              <a:defRPr sz="900">
                <a:solidFill>
                  <a:srgbClr val="0F172A"/>
                </a:solidFill>
              </a:defRPr>
            </a:pPr>
            <a:r>
              <a:t>• Matched vs. Missing skill visual badges</a:t>
            </a:r>
          </a:p>
          <a:p>
            <a:pPr>
              <a:spcBef>
                <a:spcPts val="300"/>
              </a:spcBef>
              <a:defRPr sz="900">
                <a:solidFill>
                  <a:srgbClr val="0F172A"/>
                </a:solidFill>
              </a:defRPr>
            </a:pPr>
            <a:r>
              <a:t>• Composite compatibility radar &amp; progress bars</a:t>
            </a:r>
          </a:p>
        </p:txBody>
      </p:sp>
      <p:sp>
        <p:nvSpPr>
          <p:cNvPr id="11" name="Rounded Rectangle 10"/>
          <p:cNvSpPr/>
          <p:nvPr/>
        </p:nvSpPr>
        <p:spPr>
          <a:xfrm>
            <a:off x="6172200" y="1371600"/>
            <a:ext cx="5257800" cy="2286000"/>
          </a:xfrm>
          <a:prstGeom prst="roundRect">
            <a:avLst/>
          </a:prstGeom>
          <a:solidFill>
            <a:srgbClr val="FFFF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371600"/>
            <a:ext cx="5257800" cy="41148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371600"/>
            <a:ext cx="5257800" cy="411480"/>
          </a:xfrm>
          <a:prstGeom prst="rect">
            <a:avLst/>
          </a:prstGeom>
          <a:noFill/>
        </p:spPr>
        <p:txBody>
          <a:bodyPr wrap="none">
            <a:spAutoFit/>
          </a:bodyPr>
          <a:lstStyle/>
          <a:p>
            <a:pPr algn="ctr">
              <a:defRPr b="1" sz="1050">
                <a:solidFill>
                  <a:srgbClr val="FFFFFF"/>
                </a:solidFill>
              </a:defRPr>
            </a:pPr>
            <a:r>
              <a:t>2. AI Career Copilot &amp; Project Generator</a:t>
            </a:r>
          </a:p>
        </p:txBody>
      </p:sp>
      <p:sp>
        <p:nvSpPr>
          <p:cNvPr id="14" name="TextBox 13"/>
          <p:cNvSpPr txBox="1"/>
          <p:nvPr/>
        </p:nvSpPr>
        <p:spPr>
          <a:xfrm>
            <a:off x="6309360" y="1828800"/>
            <a:ext cx="4983480" cy="1737360"/>
          </a:xfrm>
          <a:prstGeom prst="rect">
            <a:avLst/>
          </a:prstGeom>
          <a:noFill/>
        </p:spPr>
        <p:txBody>
          <a:bodyPr wrap="square">
            <a:spAutoFit/>
          </a:bodyPr>
          <a:lstStyle/>
          <a:p>
            <a:pPr>
              <a:spcBef>
                <a:spcPts val="300"/>
              </a:spcBef>
              <a:defRPr sz="900">
                <a:solidFill>
                  <a:srgbClr val="0F172A"/>
                </a:solidFill>
              </a:defRPr>
            </a:pPr>
            <a:r>
              <a:t>• Grounded Google Gemini 2.5 Flash orchestration</a:t>
            </a:r>
          </a:p>
          <a:p>
            <a:pPr>
              <a:spcBef>
                <a:spcPts val="300"/>
              </a:spcBef>
              <a:defRPr sz="900">
                <a:solidFill>
                  <a:srgbClr val="0F172A"/>
                </a:solidFill>
              </a:defRPr>
            </a:pPr>
            <a:r>
              <a:t>• Generates tailored 3-week study roadmap</a:t>
            </a:r>
          </a:p>
          <a:p>
            <a:pPr>
              <a:spcBef>
                <a:spcPts val="300"/>
              </a:spcBef>
              <a:defRPr sz="900">
                <a:solidFill>
                  <a:srgbClr val="0F172A"/>
                </a:solidFill>
              </a:defRPr>
            </a:pPr>
            <a:r>
              <a:t>• Custom end-to-end portfolio project blueprints</a:t>
            </a:r>
          </a:p>
          <a:p>
            <a:pPr>
              <a:spcBef>
                <a:spcPts val="300"/>
              </a:spcBef>
              <a:defRPr sz="900">
                <a:solidFill>
                  <a:srgbClr val="0F172A"/>
                </a:solidFill>
              </a:defRPr>
            </a:pPr>
            <a:r>
              <a:t>• Architecture diagram text &amp; recommended DB schemas</a:t>
            </a:r>
          </a:p>
          <a:p>
            <a:pPr>
              <a:spcBef>
                <a:spcPts val="300"/>
              </a:spcBef>
              <a:defRPr sz="900">
                <a:solidFill>
                  <a:srgbClr val="0F172A"/>
                </a:solidFill>
              </a:defRPr>
            </a:pPr>
            <a:r>
              <a:t>• Resume-ready bullet points for portfolio enhancement</a:t>
            </a:r>
          </a:p>
        </p:txBody>
      </p:sp>
      <p:sp>
        <p:nvSpPr>
          <p:cNvPr id="15" name="Rounded Rectangle 14"/>
          <p:cNvSpPr/>
          <p:nvPr/>
        </p:nvSpPr>
        <p:spPr>
          <a:xfrm>
            <a:off x="731520" y="3840480"/>
            <a:ext cx="5257800" cy="22860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840480"/>
            <a:ext cx="525780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40480"/>
            <a:ext cx="5257800" cy="411480"/>
          </a:xfrm>
          <a:prstGeom prst="rect">
            <a:avLst/>
          </a:prstGeom>
          <a:noFill/>
        </p:spPr>
        <p:txBody>
          <a:bodyPr wrap="none">
            <a:spAutoFit/>
          </a:bodyPr>
          <a:lstStyle/>
          <a:p>
            <a:pPr algn="ctr">
              <a:defRPr b="1" sz="1050">
                <a:solidFill>
                  <a:srgbClr val="FFFFFF"/>
                </a:solidFill>
              </a:defRPr>
            </a:pPr>
            <a:r>
              <a:t>3. Market Analytics Dashboard</a:t>
            </a:r>
          </a:p>
        </p:txBody>
      </p:sp>
      <p:sp>
        <p:nvSpPr>
          <p:cNvPr id="18" name="TextBox 17"/>
          <p:cNvSpPr txBox="1"/>
          <p:nvPr/>
        </p:nvSpPr>
        <p:spPr>
          <a:xfrm>
            <a:off x="868680" y="4297680"/>
            <a:ext cx="4983480" cy="1737360"/>
          </a:xfrm>
          <a:prstGeom prst="rect">
            <a:avLst/>
          </a:prstGeom>
          <a:noFill/>
        </p:spPr>
        <p:txBody>
          <a:bodyPr wrap="square">
            <a:spAutoFit/>
          </a:bodyPr>
          <a:lstStyle/>
          <a:p>
            <a:pPr>
              <a:spcBef>
                <a:spcPts val="300"/>
              </a:spcBef>
              <a:defRPr sz="900">
                <a:solidFill>
                  <a:srgbClr val="0F172A"/>
                </a:solidFill>
              </a:defRPr>
            </a:pPr>
            <a:r>
              <a:t>• Live Plotly interactive horizontal &amp; donut charts</a:t>
            </a:r>
          </a:p>
          <a:p>
            <a:pPr>
              <a:spcBef>
                <a:spcPts val="300"/>
              </a:spcBef>
              <a:defRPr sz="900">
                <a:solidFill>
                  <a:srgbClr val="0F172A"/>
                </a:solidFill>
              </a:defRPr>
            </a:pPr>
            <a:r>
              <a:t>• Top demanded skills across active job postings</a:t>
            </a:r>
          </a:p>
          <a:p>
            <a:pPr>
              <a:spcBef>
                <a:spcPts val="300"/>
              </a:spcBef>
              <a:defRPr sz="900">
                <a:solidFill>
                  <a:srgbClr val="0F172A"/>
                </a:solidFill>
              </a:defRPr>
            </a:pPr>
            <a:r>
              <a:t>• Candidate supply vs. employer demand deficit chart</a:t>
            </a:r>
          </a:p>
          <a:p>
            <a:pPr>
              <a:spcBef>
                <a:spcPts val="300"/>
              </a:spcBef>
              <a:defRPr sz="900">
                <a:solidFill>
                  <a:srgbClr val="0F172A"/>
                </a:solidFill>
              </a:defRPr>
            </a:pPr>
            <a:r>
              <a:t>• Score distribution across 4 performance tiers</a:t>
            </a:r>
          </a:p>
          <a:p>
            <a:pPr>
              <a:spcBef>
                <a:spcPts val="300"/>
              </a:spcBef>
              <a:defRPr sz="900">
                <a:solidFill>
                  <a:srgbClr val="0F172A"/>
                </a:solidFill>
              </a:defRPr>
            </a:pPr>
            <a:r>
              <a:t>• Instant PDF export of gap evaluation reports</a:t>
            </a:r>
          </a:p>
        </p:txBody>
      </p:sp>
      <p:sp>
        <p:nvSpPr>
          <p:cNvPr id="19" name="Rounded Rectangle 18"/>
          <p:cNvSpPr/>
          <p:nvPr/>
        </p:nvSpPr>
        <p:spPr>
          <a:xfrm>
            <a:off x="6172200" y="3840480"/>
            <a:ext cx="5257800" cy="2286000"/>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3840480"/>
            <a:ext cx="5257800" cy="4114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840480"/>
            <a:ext cx="5257800" cy="411480"/>
          </a:xfrm>
          <a:prstGeom prst="rect">
            <a:avLst/>
          </a:prstGeom>
          <a:noFill/>
        </p:spPr>
        <p:txBody>
          <a:bodyPr wrap="none">
            <a:spAutoFit/>
          </a:bodyPr>
          <a:lstStyle/>
          <a:p>
            <a:pPr algn="ctr">
              <a:defRPr b="1" sz="1050">
                <a:solidFill>
                  <a:srgbClr val="FFFFFF"/>
                </a:solidFill>
              </a:defRPr>
            </a:pPr>
            <a:r>
              <a:t>4. Interactive Data Engine &amp; Query Lab</a:t>
            </a:r>
          </a:p>
        </p:txBody>
      </p:sp>
      <p:sp>
        <p:nvSpPr>
          <p:cNvPr id="22" name="TextBox 21"/>
          <p:cNvSpPr txBox="1"/>
          <p:nvPr/>
        </p:nvSpPr>
        <p:spPr>
          <a:xfrm>
            <a:off x="6309360" y="4297680"/>
            <a:ext cx="4983480" cy="1737360"/>
          </a:xfrm>
          <a:prstGeom prst="rect">
            <a:avLst/>
          </a:prstGeom>
          <a:noFill/>
        </p:spPr>
        <p:txBody>
          <a:bodyPr wrap="square">
            <a:spAutoFit/>
          </a:bodyPr>
          <a:lstStyle/>
          <a:p>
            <a:pPr>
              <a:spcBef>
                <a:spcPts val="300"/>
              </a:spcBef>
              <a:defRPr sz="900">
                <a:solidFill>
                  <a:srgbClr val="0F172A"/>
                </a:solidFill>
              </a:defRPr>
            </a:pPr>
            <a:r>
              <a:t>• Live MongoDB collection browser &amp; document viewer</a:t>
            </a:r>
          </a:p>
          <a:p>
            <a:pPr>
              <a:spcBef>
                <a:spcPts val="300"/>
              </a:spcBef>
              <a:defRPr sz="900">
                <a:solidFill>
                  <a:srgbClr val="0F172A"/>
                </a:solidFill>
              </a:defRPr>
            </a:pPr>
            <a:r>
              <a:t>• Real-time CRUD simulator ($addToSet, $pull, insert_one)</a:t>
            </a:r>
          </a:p>
          <a:p>
            <a:pPr>
              <a:spcBef>
                <a:spcPts val="300"/>
              </a:spcBef>
              <a:defRPr sz="900">
                <a:solidFill>
                  <a:srgbClr val="0F172A"/>
                </a:solidFill>
              </a:defRPr>
            </a:pPr>
            <a:r>
              <a:t>• MongoDB explain('executionStats') query inspector</a:t>
            </a:r>
          </a:p>
          <a:p>
            <a:pPr>
              <a:spcBef>
                <a:spcPts val="300"/>
              </a:spcBef>
              <a:defRPr sz="900">
                <a:solidFill>
                  <a:srgbClr val="0F172A"/>
                </a:solidFill>
              </a:defRPr>
            </a:pPr>
            <a:r>
              <a:t>• Live raw JSON schema viewer with formatted indentation</a:t>
            </a:r>
          </a:p>
          <a:p>
            <a:pPr>
              <a:spcBef>
                <a:spcPts val="300"/>
              </a:spcBef>
              <a:defRPr sz="900">
                <a:solidFill>
                  <a:srgbClr val="0F172A"/>
                </a:solidFill>
              </a:defRPr>
            </a:pPr>
            <a:r>
              <a:t>• Database ping &amp; connection health monitor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Results &amp; Experimental Output Verification</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14 / 18</a:t>
            </a:r>
          </a:p>
        </p:txBody>
      </p:sp>
      <p:graphicFrame>
        <p:nvGraphicFramePr>
          <p:cNvPr id="7" name="Table 6"/>
          <p:cNvGraphicFramePr>
            <a:graphicFrameLocks noGrp="1"/>
          </p:cNvGraphicFramePr>
          <p:nvPr/>
        </p:nvGraphicFramePr>
        <p:xfrm>
          <a:off x="731520" y="1371600"/>
          <a:ext cx="10728655" cy="3931920"/>
        </p:xfrm>
        <a:graphic>
          <a:graphicData uri="http://schemas.openxmlformats.org/drawingml/2006/table">
            <a:tbl>
              <a:tblPr firstRow="1" bandRow="1">
                <a:tableStyleId>{5C22544A-7EE6-4342-B048-85BDC9FD1C3A}</a:tableStyleId>
              </a:tblPr>
              <a:tblGrid>
                <a:gridCol w="2011680"/>
                <a:gridCol w="1645920"/>
                <a:gridCol w="3840480"/>
                <a:gridCol w="3230575"/>
              </a:tblGrid>
              <a:tr h="491490">
                <a:tc>
                  <a:txBody>
                    <a:bodyPr/>
                    <a:lstStyle/>
                    <a:p>
                      <a:pPr>
                        <a:defRPr sz="950" b="1">
                          <a:solidFill>
                            <a:srgbClr val="FFFFFF"/>
                          </a:solidFill>
                          <a:latin typeface="Segoe UI"/>
                        </a:defRPr>
                      </a:pPr>
                      <a:r>
                        <a:t>Metric / Test Case</a:t>
                      </a:r>
                    </a:p>
                  </a:txBody>
                  <a:tcPr>
                    <a:solidFill>
                      <a:srgbClr val="2563EB"/>
                    </a:solidFill>
                  </a:tcPr>
                </a:tc>
                <a:tc>
                  <a:txBody>
                    <a:bodyPr/>
                    <a:lstStyle/>
                    <a:p>
                      <a:pPr>
                        <a:defRPr sz="950" b="1">
                          <a:solidFill>
                            <a:srgbClr val="FFFFFF"/>
                          </a:solidFill>
                          <a:latin typeface="Segoe UI"/>
                        </a:defRPr>
                      </a:pPr>
                      <a:r>
                        <a:t>Evaluated Collection</a:t>
                      </a:r>
                    </a:p>
                  </a:txBody>
                  <a:tcPr>
                    <a:solidFill>
                      <a:srgbClr val="2563EB"/>
                    </a:solidFill>
                  </a:tcPr>
                </a:tc>
                <a:tc>
                  <a:txBody>
                    <a:bodyPr/>
                    <a:lstStyle/>
                    <a:p>
                      <a:pPr>
                        <a:defRPr sz="950" b="1">
                          <a:solidFill>
                            <a:srgbClr val="FFFFFF"/>
                          </a:solidFill>
                          <a:latin typeface="Segoe UI"/>
                        </a:defRPr>
                      </a:pPr>
                      <a:r>
                        <a:t>Empirical Output Summary</a:t>
                      </a:r>
                    </a:p>
                  </a:txBody>
                  <a:tcPr>
                    <a:solidFill>
                      <a:srgbClr val="2563EB"/>
                    </a:solidFill>
                  </a:tcPr>
                </a:tc>
                <a:tc>
                  <a:txBody>
                    <a:bodyPr/>
                    <a:lstStyle/>
                    <a:p>
                      <a:pPr>
                        <a:defRPr sz="950" b="1">
                          <a:solidFill>
                            <a:srgbClr val="FFFFFF"/>
                          </a:solidFill>
                          <a:latin typeface="Segoe UI"/>
                        </a:defRPr>
                      </a:pPr>
                      <a:r>
                        <a:t>System Verification &amp; Finding</a:t>
                      </a:r>
                    </a:p>
                  </a:txBody>
                  <a:tcPr>
                    <a:solidFill>
                      <a:srgbClr val="2563EB"/>
                    </a:solidFill>
                  </a:tcPr>
                </a:tc>
              </a:tr>
              <a:tr h="491490">
                <a:tc>
                  <a:txBody>
                    <a:bodyPr/>
                    <a:lstStyle/>
                    <a:p>
                      <a:pPr>
                        <a:defRPr sz="850" b="1">
                          <a:solidFill>
                            <a:srgbClr val="2563EB"/>
                          </a:solidFill>
                          <a:latin typeface="Segoe UI"/>
                        </a:defRPr>
                      </a:pPr>
                      <a:r>
                        <a:t>Top Demanded Skills</a:t>
                      </a:r>
                    </a:p>
                  </a:txBody>
                  <a:tcPr>
                    <a:solidFill>
                      <a:srgbClr val="F1F5F9"/>
                    </a:solidFill>
                  </a:tcPr>
                </a:tc>
                <a:tc>
                  <a:txBody>
                    <a:bodyPr/>
                    <a:lstStyle/>
                    <a:p>
                      <a:pPr>
                        <a:defRPr sz="850">
                          <a:solidFill>
                            <a:srgbClr val="0F172A"/>
                          </a:solidFill>
                          <a:latin typeface="Segoe UI"/>
                        </a:defRPr>
                      </a:pPr>
                      <a:r>
                        <a:t>jobs</a:t>
                      </a:r>
                    </a:p>
                  </a:txBody>
                  <a:tcPr>
                    <a:solidFill>
                      <a:srgbClr val="F8FAFC"/>
                    </a:solidFill>
                  </a:tcPr>
                </a:tc>
                <a:tc>
                  <a:txBody>
                    <a:bodyPr/>
                    <a:lstStyle/>
                    <a:p>
                      <a:pPr>
                        <a:defRPr sz="850">
                          <a:solidFill>
                            <a:srgbClr val="0F172A"/>
                          </a:solidFill>
                          <a:latin typeface="Segoe UI"/>
                        </a:defRPr>
                      </a:pPr>
                      <a:r>
                        <a:t>Python (4), Docker (4), MongoDB (3), SQL (3)</a:t>
                      </a:r>
                    </a:p>
                  </a:txBody>
                  <a:tcPr>
                    <a:solidFill>
                      <a:srgbClr val="F8FAFC"/>
                    </a:solidFill>
                  </a:tcPr>
                </a:tc>
                <a:tc>
                  <a:txBody>
                    <a:bodyPr/>
                    <a:lstStyle/>
                    <a:p>
                      <a:pPr>
                        <a:defRPr sz="850">
                          <a:solidFill>
                            <a:srgbClr val="0F172A"/>
                          </a:solidFill>
                          <a:latin typeface="Segoe UI"/>
                        </a:defRPr>
                      </a:pPr>
                      <a:r>
                        <a:t>Docker and Python identified as primary industry requisites</a:t>
                      </a:r>
                    </a:p>
                  </a:txBody>
                  <a:tcPr>
                    <a:solidFill>
                      <a:srgbClr val="F8FAFC"/>
                    </a:solidFill>
                  </a:tcPr>
                </a:tc>
              </a:tr>
              <a:tr h="491490">
                <a:tc>
                  <a:txBody>
                    <a:bodyPr/>
                    <a:lstStyle/>
                    <a:p>
                      <a:pPr>
                        <a:defRPr sz="850" b="1">
                          <a:solidFill>
                            <a:srgbClr val="2563EB"/>
                          </a:solidFill>
                          <a:latin typeface="Segoe UI"/>
                        </a:defRPr>
                      </a:pPr>
                      <a:r>
                        <a:t>Common Skill Gaps</a:t>
                      </a:r>
                    </a:p>
                  </a:txBody>
                  <a:tcPr>
                    <a:solidFill>
                      <a:srgbClr val="F1F5F9"/>
                    </a:solidFill>
                  </a:tcPr>
                </a:tc>
                <a:tc>
                  <a:txBody>
                    <a:bodyPr/>
                    <a:lstStyle/>
                    <a:p>
                      <a:pPr>
                        <a:defRPr sz="850">
                          <a:solidFill>
                            <a:srgbClr val="0F172A"/>
                          </a:solidFill>
                          <a:latin typeface="Segoe UI"/>
                        </a:defRPr>
                      </a:pPr>
                      <a:r>
                        <a:t>analyses</a:t>
                      </a:r>
                    </a:p>
                  </a:txBody>
                  <a:tcPr>
                    <a:solidFill>
                      <a:srgbClr val="FFFFFF"/>
                    </a:solidFill>
                  </a:tcPr>
                </a:tc>
                <a:tc>
                  <a:txBody>
                    <a:bodyPr/>
                    <a:lstStyle/>
                    <a:p>
                      <a:pPr>
                        <a:defRPr sz="850">
                          <a:solidFill>
                            <a:srgbClr val="0F172A"/>
                          </a:solidFill>
                          <a:latin typeface="Segoe UI"/>
                        </a:defRPr>
                      </a:pPr>
                      <a:r>
                        <a:t>Docker (2), Power BI (1), Statistics (1), AWS (1)</a:t>
                      </a:r>
                    </a:p>
                  </a:txBody>
                  <a:tcPr>
                    <a:solidFill>
                      <a:srgbClr val="FFFFFF"/>
                    </a:solidFill>
                  </a:tcPr>
                </a:tc>
                <a:tc>
                  <a:txBody>
                    <a:bodyPr/>
                    <a:lstStyle/>
                    <a:p>
                      <a:pPr>
                        <a:defRPr sz="850">
                          <a:solidFill>
                            <a:srgbClr val="0F172A"/>
                          </a:solidFill>
                          <a:latin typeface="Segoe UI"/>
                        </a:defRPr>
                      </a:pPr>
                      <a:r>
                        <a:t>Containerization identified as the highest candidate deficiency</a:t>
                      </a:r>
                    </a:p>
                  </a:txBody>
                  <a:tcPr>
                    <a:solidFill>
                      <a:srgbClr val="FFFFFF"/>
                    </a:solidFill>
                  </a:tcPr>
                </a:tc>
              </a:tr>
              <a:tr h="491490">
                <a:tc>
                  <a:txBody>
                    <a:bodyPr/>
                    <a:lstStyle/>
                    <a:p>
                      <a:pPr>
                        <a:defRPr sz="850" b="1">
                          <a:solidFill>
                            <a:srgbClr val="2563EB"/>
                          </a:solidFill>
                          <a:latin typeface="Segoe UI"/>
                        </a:defRPr>
                      </a:pPr>
                      <a:r>
                        <a:t>Talent Supply vs Demand</a:t>
                      </a:r>
                    </a:p>
                  </a:txBody>
                  <a:tcPr>
                    <a:solidFill>
                      <a:srgbClr val="F1F5F9"/>
                    </a:solidFill>
                  </a:tcPr>
                </a:tc>
                <a:tc>
                  <a:txBody>
                    <a:bodyPr/>
                    <a:lstStyle/>
                    <a:p>
                      <a:pPr>
                        <a:defRPr sz="850">
                          <a:solidFill>
                            <a:srgbClr val="0F172A"/>
                          </a:solidFill>
                          <a:latin typeface="Segoe UI"/>
                        </a:defRPr>
                      </a:pPr>
                      <a:r>
                        <a:t>resumes + jobs</a:t>
                      </a:r>
                    </a:p>
                  </a:txBody>
                  <a:tcPr>
                    <a:solidFill>
                      <a:srgbClr val="F8FAFC"/>
                    </a:solidFill>
                  </a:tcPr>
                </a:tc>
                <a:tc>
                  <a:txBody>
                    <a:bodyPr/>
                    <a:lstStyle/>
                    <a:p>
                      <a:pPr>
                        <a:defRPr sz="850">
                          <a:solidFill>
                            <a:srgbClr val="0F172A"/>
                          </a:solidFill>
                          <a:latin typeface="Segoe UI"/>
                        </a:defRPr>
                      </a:pPr>
                      <a:r>
                        <a:t>Docker: Demand 4 vs Supply 2 (Gap: +2)</a:t>
                      </a:r>
                    </a:p>
                  </a:txBody>
                  <a:tcPr>
                    <a:solidFill>
                      <a:srgbClr val="F8FAFC"/>
                    </a:solidFill>
                  </a:tcPr>
                </a:tc>
                <a:tc>
                  <a:txBody>
                    <a:bodyPr/>
                    <a:lstStyle/>
                    <a:p>
                      <a:pPr>
                        <a:defRPr sz="850">
                          <a:solidFill>
                            <a:srgbClr val="0F172A"/>
                          </a:solidFill>
                          <a:latin typeface="Segoe UI"/>
                        </a:defRPr>
                      </a:pPr>
                      <a:r>
                        <a:t>Net deficit of 2 containerization engineers verified</a:t>
                      </a:r>
                    </a:p>
                  </a:txBody>
                  <a:tcPr>
                    <a:solidFill>
                      <a:srgbClr val="F8FAFC"/>
                    </a:solidFill>
                  </a:tcPr>
                </a:tc>
              </a:tr>
              <a:tr h="491490">
                <a:tc>
                  <a:txBody>
                    <a:bodyPr/>
                    <a:lstStyle/>
                    <a:p>
                      <a:pPr>
                        <a:defRPr sz="850" b="1">
                          <a:solidFill>
                            <a:srgbClr val="2563EB"/>
                          </a:solidFill>
                          <a:latin typeface="Segoe UI"/>
                        </a:defRPr>
                      </a:pPr>
                      <a:r>
                        <a:t>Score Bucketing Tiers</a:t>
                      </a:r>
                    </a:p>
                  </a:txBody>
                  <a:tcPr>
                    <a:solidFill>
                      <a:srgbClr val="F1F5F9"/>
                    </a:solidFill>
                  </a:tcPr>
                </a:tc>
                <a:tc>
                  <a:txBody>
                    <a:bodyPr/>
                    <a:lstStyle/>
                    <a:p>
                      <a:pPr>
                        <a:defRPr sz="850">
                          <a:solidFill>
                            <a:srgbClr val="0F172A"/>
                          </a:solidFill>
                          <a:latin typeface="Segoe UI"/>
                        </a:defRPr>
                      </a:pPr>
                      <a:r>
                        <a:t>analyses</a:t>
                      </a:r>
                    </a:p>
                  </a:txBody>
                  <a:tcPr>
                    <a:solidFill>
                      <a:srgbClr val="FFFFFF"/>
                    </a:solidFill>
                  </a:tcPr>
                </a:tc>
                <a:tc>
                  <a:txBody>
                    <a:bodyPr/>
                    <a:lstStyle/>
                    <a:p>
                      <a:pPr>
                        <a:defRPr sz="850">
                          <a:solidFill>
                            <a:srgbClr val="0F172A"/>
                          </a:solidFill>
                          <a:latin typeface="Segoe UI"/>
                        </a:defRPr>
                      </a:pPr>
                      <a:r>
                        <a:t>80-100%: 2 | 60-79%: 1 | 40-59%: 2 | 0-39%: 1</a:t>
                      </a:r>
                    </a:p>
                  </a:txBody>
                  <a:tcPr>
                    <a:solidFill>
                      <a:srgbClr val="FFFFFF"/>
                    </a:solidFill>
                  </a:tcPr>
                </a:tc>
                <a:tc>
                  <a:txBody>
                    <a:bodyPr/>
                    <a:lstStyle/>
                    <a:p>
                      <a:pPr>
                        <a:defRPr sz="850">
                          <a:solidFill>
                            <a:srgbClr val="0F172A"/>
                          </a:solidFill>
                          <a:latin typeface="Segoe UI"/>
                        </a:defRPr>
                      </a:pPr>
                      <a:r>
                        <a:t>Evenly distributed candidate performance across 4 tiers</a:t>
                      </a:r>
                    </a:p>
                  </a:txBody>
                  <a:tcPr>
                    <a:solidFill>
                      <a:srgbClr val="FFFFFF"/>
                    </a:solidFill>
                  </a:tcPr>
                </a:tc>
              </a:tr>
              <a:tr h="491490">
                <a:tc>
                  <a:txBody>
                    <a:bodyPr/>
                    <a:lstStyle/>
                    <a:p>
                      <a:pPr>
                        <a:defRPr sz="850" b="1">
                          <a:solidFill>
                            <a:srgbClr val="2563EB"/>
                          </a:solidFill>
                          <a:latin typeface="Segoe UI"/>
                        </a:defRPr>
                      </a:pPr>
                      <a:r>
                        <a:t>Foreign Join ($lookup)</a:t>
                      </a:r>
                    </a:p>
                  </a:txBody>
                  <a:tcPr>
                    <a:solidFill>
                      <a:srgbClr val="F1F5F9"/>
                    </a:solidFill>
                  </a:tcPr>
                </a:tc>
                <a:tc>
                  <a:txBody>
                    <a:bodyPr/>
                    <a:lstStyle/>
                    <a:p>
                      <a:pPr>
                        <a:defRPr sz="850">
                          <a:solidFill>
                            <a:srgbClr val="0F172A"/>
                          </a:solidFill>
                          <a:latin typeface="Segoe UI"/>
                        </a:defRPr>
                      </a:pPr>
                      <a:r>
                        <a:t>analyses + jobs</a:t>
                      </a:r>
                    </a:p>
                  </a:txBody>
                  <a:tcPr>
                    <a:solidFill>
                      <a:srgbClr val="F8FAFC"/>
                    </a:solidFill>
                  </a:tcPr>
                </a:tc>
                <a:tc>
                  <a:txBody>
                    <a:bodyPr/>
                    <a:lstStyle/>
                    <a:p>
                      <a:pPr>
                        <a:defRPr sz="850">
                          <a:solidFill>
                            <a:srgbClr val="0F172A"/>
                          </a:solidFill>
                          <a:latin typeface="Segoe UI"/>
                        </a:defRPr>
                      </a:pPr>
                      <a:r>
                        <a:t>ML Engineer: Avg 100% | Cloud Data Eng: 50%</a:t>
                      </a:r>
                    </a:p>
                  </a:txBody>
                  <a:tcPr>
                    <a:solidFill>
                      <a:srgbClr val="F8FAFC"/>
                    </a:solidFill>
                  </a:tcPr>
                </a:tc>
                <a:tc>
                  <a:txBody>
                    <a:bodyPr/>
                    <a:lstStyle/>
                    <a:p>
                      <a:pPr>
                        <a:defRPr sz="850">
                          <a:solidFill>
                            <a:srgbClr val="0F172A"/>
                          </a:solidFill>
                          <a:latin typeface="Segoe UI"/>
                        </a:defRPr>
                      </a:pPr>
                      <a:r>
                        <a:t>Multi-collection aggregation verified without data redundancy</a:t>
                      </a:r>
                    </a:p>
                  </a:txBody>
                  <a:tcPr>
                    <a:solidFill>
                      <a:srgbClr val="F8FAFC"/>
                    </a:solidFill>
                  </a:tcPr>
                </a:tc>
              </a:tr>
              <a:tr h="491490">
                <a:tc>
                  <a:txBody>
                    <a:bodyPr/>
                    <a:lstStyle/>
                    <a:p>
                      <a:pPr>
                        <a:defRPr sz="850" b="1">
                          <a:solidFill>
                            <a:srgbClr val="2563EB"/>
                          </a:solidFill>
                          <a:latin typeface="Segoe UI"/>
                        </a:defRPr>
                      </a:pPr>
                      <a:r>
                        <a:t>Atomic $addToSet Test</a:t>
                      </a:r>
                    </a:p>
                  </a:txBody>
                  <a:tcPr>
                    <a:solidFill>
                      <a:srgbClr val="F1F5F9"/>
                    </a:solidFill>
                  </a:tcPr>
                </a:tc>
                <a:tc>
                  <a:txBody>
                    <a:bodyPr/>
                    <a:lstStyle/>
                    <a:p>
                      <a:pPr>
                        <a:defRPr sz="850">
                          <a:solidFill>
                            <a:srgbClr val="0F172A"/>
                          </a:solidFill>
                          <a:latin typeface="Segoe UI"/>
                        </a:defRPr>
                      </a:pPr>
                      <a:r>
                        <a:t>users</a:t>
                      </a:r>
                    </a:p>
                  </a:txBody>
                  <a:tcPr>
                    <a:solidFill>
                      <a:srgbClr val="FFFFFF"/>
                    </a:solidFill>
                  </a:tcPr>
                </a:tc>
                <a:tc>
                  <a:txBody>
                    <a:bodyPr/>
                    <a:lstStyle/>
                    <a:p>
                      <a:pPr>
                        <a:defRPr sz="850">
                          <a:solidFill>
                            <a:srgbClr val="0F172A"/>
                          </a:solidFill>
                          <a:latin typeface="Segoe UI"/>
                        </a:defRPr>
                      </a:pPr>
                      <a:r>
                        <a:t>Duplicate 'Docker' insertion resulted in modified_count: 0</a:t>
                      </a:r>
                    </a:p>
                  </a:txBody>
                  <a:tcPr>
                    <a:solidFill>
                      <a:srgbClr val="FFFFFF"/>
                    </a:solidFill>
                  </a:tcPr>
                </a:tc>
                <a:tc>
                  <a:txBody>
                    <a:bodyPr/>
                    <a:lstStyle/>
                    <a:p>
                      <a:pPr>
                        <a:defRPr sz="850">
                          <a:solidFill>
                            <a:srgbClr val="0F172A"/>
                          </a:solidFill>
                          <a:latin typeface="Segoe UI"/>
                        </a:defRPr>
                      </a:pPr>
                      <a:r>
                        <a:t>Database-level array set deduplication confirmed</a:t>
                      </a:r>
                    </a:p>
                  </a:txBody>
                  <a:tcPr>
                    <a:solidFill>
                      <a:srgbClr val="FFFFFF"/>
                    </a:solidFill>
                  </a:tcPr>
                </a:tc>
              </a:tr>
              <a:tr h="491490">
                <a:tc>
                  <a:txBody>
                    <a:bodyPr/>
                    <a:lstStyle/>
                    <a:p>
                      <a:pPr>
                        <a:defRPr sz="850" b="1">
                          <a:solidFill>
                            <a:srgbClr val="2563EB"/>
                          </a:solidFill>
                          <a:latin typeface="Segoe UI"/>
                        </a:defRPr>
                      </a:pPr>
                      <a:r>
                        <a:t>Unique Key Constraint</a:t>
                      </a:r>
                    </a:p>
                  </a:txBody>
                  <a:tcPr>
                    <a:solidFill>
                      <a:srgbClr val="F1F5F9"/>
                    </a:solidFill>
                  </a:tcPr>
                </a:tc>
                <a:tc>
                  <a:txBody>
                    <a:bodyPr/>
                    <a:lstStyle/>
                    <a:p>
                      <a:pPr>
                        <a:defRPr sz="850">
                          <a:solidFill>
                            <a:srgbClr val="0F172A"/>
                          </a:solidFill>
                          <a:latin typeface="Segoe UI"/>
                        </a:defRPr>
                      </a:pPr>
                      <a:r>
                        <a:t>users</a:t>
                      </a:r>
                    </a:p>
                  </a:txBody>
                  <a:tcPr>
                    <a:solidFill>
                      <a:srgbClr val="F8FAFC"/>
                    </a:solidFill>
                  </a:tcPr>
                </a:tc>
                <a:tc>
                  <a:txBody>
                    <a:bodyPr/>
                    <a:lstStyle/>
                    <a:p>
                      <a:pPr>
                        <a:defRPr sz="850">
                          <a:solidFill>
                            <a:srgbClr val="0F172A"/>
                          </a:solidFill>
                          <a:latin typeface="Segoe UI"/>
                        </a:defRPr>
                      </a:pPr>
                      <a:r>
                        <a:t>Inserting existing user_id 101 raised DuplicateKeyError (E11000)</a:t>
                      </a:r>
                    </a:p>
                  </a:txBody>
                  <a:tcPr>
                    <a:solidFill>
                      <a:srgbClr val="F8FAFC"/>
                    </a:solidFill>
                  </a:tcPr>
                </a:tc>
                <a:tc>
                  <a:txBody>
                    <a:bodyPr/>
                    <a:lstStyle/>
                    <a:p>
                      <a:pPr>
                        <a:defRPr sz="850">
                          <a:solidFill>
                            <a:srgbClr val="0F172A"/>
                          </a:solidFill>
                          <a:latin typeface="Segoe UI"/>
                        </a:defRPr>
                      </a:pPr>
                      <a:r>
                        <a:t>Integrity constraint prevented primary key collision</a:t>
                      </a:r>
                    </a:p>
                  </a:txBody>
                  <a:tcPr>
                    <a:solidFill>
                      <a:srgbClr val="F8FAFC"/>
                    </a:solidFill>
                  </a:tcPr>
                </a:tc>
              </a:tr>
            </a:tbl>
          </a:graphicData>
        </a:graphic>
      </p:graphicFrame>
      <p:sp>
        <p:nvSpPr>
          <p:cNvPr id="8" name="Rounded Rectangle 7"/>
          <p:cNvSpPr/>
          <p:nvPr/>
        </p:nvSpPr>
        <p:spPr>
          <a:xfrm>
            <a:off x="731520" y="5440680"/>
            <a:ext cx="10728655" cy="822960"/>
          </a:xfrm>
          <a:prstGeom prst="roundRect">
            <a:avLst/>
          </a:prstGeom>
          <a:solidFill>
            <a:srgbClr val="F0FDF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86400"/>
            <a:ext cx="10362895" cy="731520"/>
          </a:xfrm>
          <a:prstGeom prst="rect">
            <a:avLst/>
          </a:prstGeom>
          <a:noFill/>
        </p:spPr>
        <p:txBody>
          <a:bodyPr wrap="none">
            <a:spAutoFit/>
          </a:bodyPr>
          <a:lstStyle/>
          <a:p>
            <a:pPr>
              <a:defRPr b="1" sz="1000">
                <a:solidFill>
                  <a:srgbClr val="10B981"/>
                </a:solidFill>
              </a:defRPr>
            </a:pPr>
            <a:r>
              <a:t>Verified Latency Benchmarks:</a:t>
            </a:r>
          </a:p>
          <a:p>
            <a:pPr>
              <a:defRPr sz="900">
                <a:solidFill>
                  <a:srgbClr val="0F172A"/>
                </a:solidFill>
                <a:latin typeface="Consolas"/>
              </a:defRPr>
            </a:pPr>
            <a:r>
              <a:t>• Primary Indexed Read (find_one): &lt; 1.8 ms  |  • Atomic Array Update ($addToSet): &lt; 3.2 ms  |  • Multi-Stage Aggregation: &lt; 11.5 ms  |  • All operations verified under local &amp; Atlas replica sets.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Challenges Encountered &amp; Engineering Solutions</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15 / 18</a:t>
            </a:r>
          </a:p>
        </p:txBody>
      </p:sp>
      <p:sp>
        <p:nvSpPr>
          <p:cNvPr id="7" name="Rounded Rectangle 6"/>
          <p:cNvSpPr/>
          <p:nvPr/>
        </p:nvSpPr>
        <p:spPr>
          <a:xfrm>
            <a:off x="731520" y="1371600"/>
            <a:ext cx="5257800" cy="2286000"/>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5257800" cy="4114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5257800" cy="411480"/>
          </a:xfrm>
          <a:prstGeom prst="rect">
            <a:avLst/>
          </a:prstGeom>
          <a:noFill/>
        </p:spPr>
        <p:txBody>
          <a:bodyPr wrap="none">
            <a:spAutoFit/>
          </a:bodyPr>
          <a:lstStyle/>
          <a:p>
            <a:pPr algn="ctr">
              <a:defRPr b="1" sz="1050">
                <a:solidFill>
                  <a:srgbClr val="FFFFFF"/>
                </a:solidFill>
              </a:defRPr>
            </a:pPr>
            <a:r>
              <a:t>1. Duplicate Array Entries</a:t>
            </a:r>
          </a:p>
        </p:txBody>
      </p:sp>
      <p:sp>
        <p:nvSpPr>
          <p:cNvPr id="10" name="TextBox 9"/>
          <p:cNvSpPr txBox="1"/>
          <p:nvPr/>
        </p:nvSpPr>
        <p:spPr>
          <a:xfrm>
            <a:off x="868680" y="1828800"/>
            <a:ext cx="4983480" cy="1737360"/>
          </a:xfrm>
          <a:prstGeom prst="rect">
            <a:avLst/>
          </a:prstGeom>
          <a:noFill/>
        </p:spPr>
        <p:txBody>
          <a:bodyPr wrap="square">
            <a:spAutoFit/>
          </a:bodyPr>
          <a:lstStyle/>
          <a:p>
            <a:pPr>
              <a:spcBef>
                <a:spcPts val="400"/>
              </a:spcBef>
              <a:defRPr sz="900">
                <a:solidFill>
                  <a:srgbClr val="0F172A"/>
                </a:solidFill>
              </a:defRPr>
            </a:pPr>
            <a:r>
              <a:t>Problem: Repeatedly appending candidate skills using $push caused duplicate strings in profiles.</a:t>
            </a:r>
          </a:p>
          <a:p>
            <a:pPr>
              <a:spcBef>
                <a:spcPts val="400"/>
              </a:spcBef>
              <a:defRPr sz="900">
                <a:solidFill>
                  <a:srgbClr val="0F172A"/>
                </a:solidFill>
              </a:defRPr>
            </a:pPr>
            <a:r>
              <a:t>Solution: Replaced $push with the set-preserving atomic operator $addToSet, ensuring mathematical set uniqueness at the database layer without manual code checks.</a:t>
            </a:r>
          </a:p>
        </p:txBody>
      </p:sp>
      <p:sp>
        <p:nvSpPr>
          <p:cNvPr id="11" name="Rounded Rectangle 10"/>
          <p:cNvSpPr/>
          <p:nvPr/>
        </p:nvSpPr>
        <p:spPr>
          <a:xfrm>
            <a:off x="6172200" y="1371600"/>
            <a:ext cx="5257800" cy="22860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371600"/>
            <a:ext cx="525780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371600"/>
            <a:ext cx="5257800" cy="411480"/>
          </a:xfrm>
          <a:prstGeom prst="rect">
            <a:avLst/>
          </a:prstGeom>
          <a:noFill/>
        </p:spPr>
        <p:txBody>
          <a:bodyPr wrap="none">
            <a:spAutoFit/>
          </a:bodyPr>
          <a:lstStyle/>
          <a:p>
            <a:pPr algn="ctr">
              <a:defRPr b="1" sz="1050">
                <a:solidFill>
                  <a:srgbClr val="FFFFFF"/>
                </a:solidFill>
              </a:defRPr>
            </a:pPr>
            <a:r>
              <a:t>2. MongoDB Atlas URI Special Characters</a:t>
            </a:r>
          </a:p>
        </p:txBody>
      </p:sp>
      <p:sp>
        <p:nvSpPr>
          <p:cNvPr id="14" name="TextBox 13"/>
          <p:cNvSpPr txBox="1"/>
          <p:nvPr/>
        </p:nvSpPr>
        <p:spPr>
          <a:xfrm>
            <a:off x="6309360" y="1828800"/>
            <a:ext cx="4983480" cy="1737360"/>
          </a:xfrm>
          <a:prstGeom prst="rect">
            <a:avLst/>
          </a:prstGeom>
          <a:noFill/>
        </p:spPr>
        <p:txBody>
          <a:bodyPr wrap="square">
            <a:spAutoFit/>
          </a:bodyPr>
          <a:lstStyle/>
          <a:p>
            <a:pPr>
              <a:spcBef>
                <a:spcPts val="400"/>
              </a:spcBef>
              <a:defRPr sz="900">
                <a:solidFill>
                  <a:srgbClr val="0F172A"/>
                </a:solidFill>
              </a:defRPr>
            </a:pPr>
            <a:r>
              <a:t>Problem: Passwords containing reserved characters like @ or # broke PyMongo's URI parser.</a:t>
            </a:r>
          </a:p>
          <a:p>
            <a:pPr>
              <a:spcBef>
                <a:spcPts val="400"/>
              </a:spcBef>
              <a:defRPr sz="900">
                <a:solidFill>
                  <a:srgbClr val="0F172A"/>
                </a:solidFill>
              </a:defRPr>
            </a:pPr>
            <a:r>
              <a:t>Solution: Built an automated RFC 3986 percent-encoding sanitizer in sanitize_mongo_uri() (database/db_connection.py) to reliably quote credentials.</a:t>
            </a:r>
          </a:p>
        </p:txBody>
      </p:sp>
      <p:sp>
        <p:nvSpPr>
          <p:cNvPr id="15" name="Rounded Rectangle 14"/>
          <p:cNvSpPr/>
          <p:nvPr/>
        </p:nvSpPr>
        <p:spPr>
          <a:xfrm>
            <a:off x="731520" y="3840480"/>
            <a:ext cx="5257800" cy="22860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840480"/>
            <a:ext cx="525780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40480"/>
            <a:ext cx="5257800" cy="411480"/>
          </a:xfrm>
          <a:prstGeom prst="rect">
            <a:avLst/>
          </a:prstGeom>
          <a:noFill/>
        </p:spPr>
        <p:txBody>
          <a:bodyPr wrap="none">
            <a:spAutoFit/>
          </a:bodyPr>
          <a:lstStyle/>
          <a:p>
            <a:pPr algn="ctr">
              <a:defRPr b="1" sz="1050">
                <a:solidFill>
                  <a:srgbClr val="FFFFFF"/>
                </a:solidFill>
              </a:defRPr>
            </a:pPr>
            <a:r>
              <a:t>3. Remote Database Latency &amp; Offline Fallback</a:t>
            </a:r>
          </a:p>
        </p:txBody>
      </p:sp>
      <p:sp>
        <p:nvSpPr>
          <p:cNvPr id="18" name="TextBox 17"/>
          <p:cNvSpPr txBox="1"/>
          <p:nvPr/>
        </p:nvSpPr>
        <p:spPr>
          <a:xfrm>
            <a:off x="868680" y="4297680"/>
            <a:ext cx="4983480" cy="1737360"/>
          </a:xfrm>
          <a:prstGeom prst="rect">
            <a:avLst/>
          </a:prstGeom>
          <a:noFill/>
        </p:spPr>
        <p:txBody>
          <a:bodyPr wrap="square">
            <a:spAutoFit/>
          </a:bodyPr>
          <a:lstStyle/>
          <a:p>
            <a:pPr>
              <a:spcBef>
                <a:spcPts val="400"/>
              </a:spcBef>
              <a:defRPr sz="900">
                <a:solidFill>
                  <a:srgbClr val="0F172A"/>
                </a:solidFill>
              </a:defRPr>
            </a:pPr>
            <a:r>
              <a:t>Problem: Network timeouts during remote Atlas connection spikes risked crashing the UI.</a:t>
            </a:r>
          </a:p>
          <a:p>
            <a:pPr>
              <a:spcBef>
                <a:spcPts val="400"/>
              </a:spcBef>
              <a:defRPr sz="900">
                <a:solidFill>
                  <a:srgbClr val="0F172A"/>
                </a:solidFill>
              </a:defRPr>
            </a:pPr>
            <a:r>
              <a:t>Solution: Implemented a resilient fallback layer with a 5000ms server selection timeout, falling back seamlessly to cached in-memory structures if MongoDB is unreachable.</a:t>
            </a:r>
          </a:p>
        </p:txBody>
      </p:sp>
      <p:sp>
        <p:nvSpPr>
          <p:cNvPr id="19" name="Rounded Rectangle 18"/>
          <p:cNvSpPr/>
          <p:nvPr/>
        </p:nvSpPr>
        <p:spPr>
          <a:xfrm>
            <a:off x="6172200" y="3840480"/>
            <a:ext cx="5257800" cy="2286000"/>
          </a:xfrm>
          <a:prstGeom prst="roundRect">
            <a:avLst/>
          </a:prstGeom>
          <a:solidFill>
            <a:srgbClr val="FFFF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3840480"/>
            <a:ext cx="5257800" cy="41148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840480"/>
            <a:ext cx="5257800" cy="411480"/>
          </a:xfrm>
          <a:prstGeom prst="rect">
            <a:avLst/>
          </a:prstGeom>
          <a:noFill/>
        </p:spPr>
        <p:txBody>
          <a:bodyPr wrap="none">
            <a:spAutoFit/>
          </a:bodyPr>
          <a:lstStyle/>
          <a:p>
            <a:pPr algn="ctr">
              <a:defRPr b="1" sz="1050">
                <a:solidFill>
                  <a:srgbClr val="FFFFFF"/>
                </a:solidFill>
              </a:defRPr>
            </a:pPr>
            <a:r>
              <a:t>4. Aggregation Pipeline Memory Limits</a:t>
            </a:r>
          </a:p>
        </p:txBody>
      </p:sp>
      <p:sp>
        <p:nvSpPr>
          <p:cNvPr id="22" name="TextBox 21"/>
          <p:cNvSpPr txBox="1"/>
          <p:nvPr/>
        </p:nvSpPr>
        <p:spPr>
          <a:xfrm>
            <a:off x="6309360" y="4297680"/>
            <a:ext cx="4983480" cy="1737360"/>
          </a:xfrm>
          <a:prstGeom prst="rect">
            <a:avLst/>
          </a:prstGeom>
          <a:noFill/>
        </p:spPr>
        <p:txBody>
          <a:bodyPr wrap="square">
            <a:spAutoFit/>
          </a:bodyPr>
          <a:lstStyle/>
          <a:p>
            <a:pPr>
              <a:spcBef>
                <a:spcPts val="400"/>
              </a:spcBef>
              <a:defRPr sz="900">
                <a:solidFill>
                  <a:srgbClr val="0F172A"/>
                </a:solidFill>
              </a:defRPr>
            </a:pPr>
            <a:r>
              <a:t>Problem: $unwind on large candidate skill arrays risked exceeding MongoDB's 100MB RAM limit per pipeline stage.</a:t>
            </a:r>
          </a:p>
          <a:p>
            <a:pPr>
              <a:spcBef>
                <a:spcPts val="400"/>
              </a:spcBef>
              <a:defRPr sz="900">
                <a:solidFill>
                  <a:srgbClr val="0F172A"/>
                </a:solidFill>
              </a:defRPr>
            </a:pPr>
            <a:r>
              <a:t>Solution: Positioned selective $project stages early in the pipeline to prune unnecessary fields and built Multikey indexes to feed sorted data directly into $group.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Future Scope &amp; Scalability Roadmap</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16 / 18</a:t>
            </a:r>
          </a:p>
        </p:txBody>
      </p:sp>
      <p:sp>
        <p:nvSpPr>
          <p:cNvPr id="7" name="Rounded Rectangle 6"/>
          <p:cNvSpPr/>
          <p:nvPr/>
        </p:nvSpPr>
        <p:spPr>
          <a:xfrm>
            <a:off x="731520" y="1371600"/>
            <a:ext cx="5257800" cy="22860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371600"/>
            <a:ext cx="5257800" cy="4114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5257800" cy="411480"/>
          </a:xfrm>
          <a:prstGeom prst="rect">
            <a:avLst/>
          </a:prstGeom>
          <a:noFill/>
        </p:spPr>
        <p:txBody>
          <a:bodyPr wrap="none">
            <a:spAutoFit/>
          </a:bodyPr>
          <a:lstStyle/>
          <a:p>
            <a:pPr algn="ctr">
              <a:defRPr b="1" sz="1050">
                <a:solidFill>
                  <a:srgbClr val="FFFFFF"/>
                </a:solidFill>
              </a:defRPr>
            </a:pPr>
            <a:r>
              <a:t>1. MongoDB Atlas Native Vector Search</a:t>
            </a:r>
          </a:p>
        </p:txBody>
      </p:sp>
      <p:sp>
        <p:nvSpPr>
          <p:cNvPr id="10" name="TextBox 9"/>
          <p:cNvSpPr txBox="1"/>
          <p:nvPr/>
        </p:nvSpPr>
        <p:spPr>
          <a:xfrm>
            <a:off x="868680" y="1828800"/>
            <a:ext cx="4983480" cy="1737360"/>
          </a:xfrm>
          <a:prstGeom prst="rect">
            <a:avLst/>
          </a:prstGeom>
          <a:noFill/>
        </p:spPr>
        <p:txBody>
          <a:bodyPr wrap="square">
            <a:spAutoFit/>
          </a:bodyPr>
          <a:lstStyle/>
          <a:p>
            <a:pPr>
              <a:spcBef>
                <a:spcPts val="400"/>
              </a:spcBef>
              <a:defRPr sz="950">
                <a:solidFill>
                  <a:srgbClr val="0F172A"/>
                </a:solidFill>
              </a:defRPr>
            </a:pPr>
            <a:r>
              <a:t>• Migrate local cosine similarity calculation to native MongoDB Atlas $vectorSearch.</a:t>
            </a:r>
          </a:p>
          <a:p>
            <a:pPr>
              <a:spcBef>
                <a:spcPts val="400"/>
              </a:spcBef>
              <a:defRPr sz="950">
                <a:solidFill>
                  <a:srgbClr val="0F172A"/>
                </a:solidFill>
              </a:defRPr>
            </a:pPr>
            <a:r>
              <a:t>• Utilize Hierarchical Navigable Small World (HNSW) index trees for approximate nearest neighbor retrieval.</a:t>
            </a:r>
          </a:p>
          <a:p>
            <a:pPr>
              <a:spcBef>
                <a:spcPts val="400"/>
              </a:spcBef>
              <a:defRPr sz="950">
                <a:solidFill>
                  <a:srgbClr val="0F172A"/>
                </a:solidFill>
              </a:defRPr>
            </a:pPr>
            <a:r>
              <a:t>• Scale to 1,000,000+ vector documents with sub-10ms semantic similarity queries.</a:t>
            </a:r>
          </a:p>
        </p:txBody>
      </p:sp>
      <p:sp>
        <p:nvSpPr>
          <p:cNvPr id="11" name="Rounded Rectangle 10"/>
          <p:cNvSpPr/>
          <p:nvPr/>
        </p:nvSpPr>
        <p:spPr>
          <a:xfrm>
            <a:off x="6172200" y="1371600"/>
            <a:ext cx="5257800" cy="228600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371600"/>
            <a:ext cx="525780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371600"/>
            <a:ext cx="5257800" cy="411480"/>
          </a:xfrm>
          <a:prstGeom prst="rect">
            <a:avLst/>
          </a:prstGeom>
          <a:noFill/>
        </p:spPr>
        <p:txBody>
          <a:bodyPr wrap="none">
            <a:spAutoFit/>
          </a:bodyPr>
          <a:lstStyle/>
          <a:p>
            <a:pPr algn="ctr">
              <a:defRPr b="1" sz="1050">
                <a:solidFill>
                  <a:srgbClr val="FFFFFF"/>
                </a:solidFill>
              </a:defRPr>
            </a:pPr>
            <a:r>
              <a:t>2. Real-Time Change Streams</a:t>
            </a:r>
          </a:p>
        </p:txBody>
      </p:sp>
      <p:sp>
        <p:nvSpPr>
          <p:cNvPr id="14" name="TextBox 13"/>
          <p:cNvSpPr txBox="1"/>
          <p:nvPr/>
        </p:nvSpPr>
        <p:spPr>
          <a:xfrm>
            <a:off x="6309360" y="1828800"/>
            <a:ext cx="4983480" cy="1737360"/>
          </a:xfrm>
          <a:prstGeom prst="rect">
            <a:avLst/>
          </a:prstGeom>
          <a:noFill/>
        </p:spPr>
        <p:txBody>
          <a:bodyPr wrap="square">
            <a:spAutoFit/>
          </a:bodyPr>
          <a:lstStyle/>
          <a:p>
            <a:pPr>
              <a:spcBef>
                <a:spcPts val="400"/>
              </a:spcBef>
              <a:defRPr sz="950">
                <a:solidFill>
                  <a:srgbClr val="0F172A"/>
                </a:solidFill>
              </a:defRPr>
            </a:pPr>
            <a:r>
              <a:t>• Implement MongoDB Change Streams (db.collection.watch()) via websockets.</a:t>
            </a:r>
          </a:p>
          <a:p>
            <a:pPr>
              <a:spcBef>
                <a:spcPts val="400"/>
              </a:spcBef>
              <a:defRPr sz="950">
                <a:solidFill>
                  <a:srgbClr val="0F172A"/>
                </a:solidFill>
              </a:defRPr>
            </a:pPr>
            <a:r>
              <a:t>• Push instantaneous notifications to candidates whenever a newly posted job matches their skill profile.</a:t>
            </a:r>
          </a:p>
          <a:p>
            <a:pPr>
              <a:spcBef>
                <a:spcPts val="400"/>
              </a:spcBef>
              <a:defRPr sz="950">
                <a:solidFill>
                  <a:srgbClr val="0F172A"/>
                </a:solidFill>
              </a:defRPr>
            </a:pPr>
            <a:r>
              <a:t>• Trigger automatic re-aggregation when candidate skill arrays are updated.</a:t>
            </a:r>
          </a:p>
        </p:txBody>
      </p:sp>
      <p:sp>
        <p:nvSpPr>
          <p:cNvPr id="15" name="Rounded Rectangle 14"/>
          <p:cNvSpPr/>
          <p:nvPr/>
        </p:nvSpPr>
        <p:spPr>
          <a:xfrm>
            <a:off x="731520" y="3840480"/>
            <a:ext cx="5257800" cy="2286000"/>
          </a:xfrm>
          <a:prstGeom prst="roundRect">
            <a:avLst/>
          </a:prstGeom>
          <a:solidFill>
            <a:srgbClr val="FFFF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840480"/>
            <a:ext cx="5257800" cy="41148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840480"/>
            <a:ext cx="5257800" cy="411480"/>
          </a:xfrm>
          <a:prstGeom prst="rect">
            <a:avLst/>
          </a:prstGeom>
          <a:noFill/>
        </p:spPr>
        <p:txBody>
          <a:bodyPr wrap="none">
            <a:spAutoFit/>
          </a:bodyPr>
          <a:lstStyle/>
          <a:p>
            <a:pPr algn="ctr">
              <a:defRPr b="1" sz="1050">
                <a:solidFill>
                  <a:srgbClr val="FFFFFF"/>
                </a:solidFill>
              </a:defRPr>
            </a:pPr>
            <a:r>
              <a:t>3. Multimodal OCR Resume Ingestion</a:t>
            </a:r>
          </a:p>
        </p:txBody>
      </p:sp>
      <p:sp>
        <p:nvSpPr>
          <p:cNvPr id="18" name="TextBox 17"/>
          <p:cNvSpPr txBox="1"/>
          <p:nvPr/>
        </p:nvSpPr>
        <p:spPr>
          <a:xfrm>
            <a:off x="868680" y="4297680"/>
            <a:ext cx="4983480" cy="1737360"/>
          </a:xfrm>
          <a:prstGeom prst="rect">
            <a:avLst/>
          </a:prstGeom>
          <a:noFill/>
        </p:spPr>
        <p:txBody>
          <a:bodyPr wrap="square">
            <a:spAutoFit/>
          </a:bodyPr>
          <a:lstStyle/>
          <a:p>
            <a:pPr>
              <a:spcBef>
                <a:spcPts val="400"/>
              </a:spcBef>
              <a:defRPr sz="950">
                <a:solidFill>
                  <a:srgbClr val="0F172A"/>
                </a:solidFill>
              </a:defRPr>
            </a:pPr>
            <a:r>
              <a:t>• Incorporate computer vision OCR (Gemini Vision / Tesseract) for scanned, image-based PDF resumes.</a:t>
            </a:r>
          </a:p>
          <a:p>
            <a:pPr>
              <a:spcBef>
                <a:spcPts val="400"/>
              </a:spcBef>
              <a:defRPr sz="950">
                <a:solidFill>
                  <a:srgbClr val="0F172A"/>
                </a:solidFill>
              </a:defRPr>
            </a:pPr>
            <a:r>
              <a:t>• Extract tabular experience sections and portfolio images directly into embedded BSON subdocuments.</a:t>
            </a:r>
          </a:p>
          <a:p>
            <a:pPr>
              <a:spcBef>
                <a:spcPts val="400"/>
              </a:spcBef>
              <a:defRPr sz="950">
                <a:solidFill>
                  <a:srgbClr val="0F172A"/>
                </a:solidFill>
              </a:defRPr>
            </a:pPr>
            <a:r>
              <a:t>• Verify GitHub repository URLs using automated web crawlers.</a:t>
            </a:r>
          </a:p>
        </p:txBody>
      </p:sp>
      <p:sp>
        <p:nvSpPr>
          <p:cNvPr id="19" name="Rounded Rectangle 18"/>
          <p:cNvSpPr/>
          <p:nvPr/>
        </p:nvSpPr>
        <p:spPr>
          <a:xfrm>
            <a:off x="6172200" y="3840480"/>
            <a:ext cx="5257800" cy="2286000"/>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3840480"/>
            <a:ext cx="5257800" cy="41148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840480"/>
            <a:ext cx="5257800" cy="411480"/>
          </a:xfrm>
          <a:prstGeom prst="rect">
            <a:avLst/>
          </a:prstGeom>
          <a:noFill/>
        </p:spPr>
        <p:txBody>
          <a:bodyPr wrap="none">
            <a:spAutoFit/>
          </a:bodyPr>
          <a:lstStyle/>
          <a:p>
            <a:pPr algn="ctr">
              <a:defRPr b="1" sz="1050">
                <a:solidFill>
                  <a:srgbClr val="FFFFFF"/>
                </a:solidFill>
              </a:defRPr>
            </a:pPr>
            <a:r>
              <a:t>4. Enterprise Multi-Tenant RBAC</a:t>
            </a:r>
          </a:p>
        </p:txBody>
      </p:sp>
      <p:sp>
        <p:nvSpPr>
          <p:cNvPr id="22" name="TextBox 21"/>
          <p:cNvSpPr txBox="1"/>
          <p:nvPr/>
        </p:nvSpPr>
        <p:spPr>
          <a:xfrm>
            <a:off x="6309360" y="4297680"/>
            <a:ext cx="4983480" cy="1737360"/>
          </a:xfrm>
          <a:prstGeom prst="rect">
            <a:avLst/>
          </a:prstGeom>
          <a:noFill/>
        </p:spPr>
        <p:txBody>
          <a:bodyPr wrap="square">
            <a:spAutoFit/>
          </a:bodyPr>
          <a:lstStyle/>
          <a:p>
            <a:pPr>
              <a:spcBef>
                <a:spcPts val="400"/>
              </a:spcBef>
              <a:defRPr sz="950">
                <a:solidFill>
                  <a:srgbClr val="0F172A"/>
                </a:solidFill>
              </a:defRPr>
            </a:pPr>
            <a:r>
              <a:t>• Expand schema with Role-Based Access Control (RBAC).</a:t>
            </a:r>
          </a:p>
          <a:p>
            <a:pPr>
              <a:spcBef>
                <a:spcPts val="400"/>
              </a:spcBef>
              <a:defRPr sz="950">
                <a:solidFill>
                  <a:srgbClr val="0F172A"/>
                </a:solidFill>
              </a:defRPr>
            </a:pPr>
            <a:r>
              <a:t>• Distinct authenticated portals for University Placement Cells (TPO), Corporate Recruiters, and Students.</a:t>
            </a:r>
          </a:p>
          <a:p>
            <a:pPr>
              <a:spcBef>
                <a:spcPts val="400"/>
              </a:spcBef>
              <a:defRPr sz="950">
                <a:solidFill>
                  <a:srgbClr val="0F172A"/>
                </a:solidFill>
              </a:defRPr>
            </a:pPr>
            <a:r>
              <a:t>• Implement MongoDB Client-Side Field Level Encryption (CSFLE) for sensitive contact details.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320040"/>
          </a:xfrm>
          <a:prstGeom prst="rect">
            <a:avLst/>
          </a:prstGeom>
          <a:noFill/>
        </p:spPr>
        <p:txBody>
          <a:bodyPr wrap="square" lIns="0" tIns="0" rIns="0" bIns="0">
            <a:spAutoFit/>
          </a:bodyPr>
          <a:lstStyle/>
          <a:p>
            <a:pPr>
              <a:defRPr sz="1100" b="1">
                <a:solidFill>
                  <a:srgbClr val="EA580C"/>
                </a:solidFill>
                <a:latin typeface="Segoe UI"/>
              </a:defRPr>
            </a:pPr>
            <a:r>
              <a:t>CSE494: INTELLIGENT NOSQL DATABASES</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defRPr sz="2400" b="1">
                <a:solidFill>
                  <a:srgbClr val="0F172A"/>
                </a:solidFill>
                <a:latin typeface="Segoe UI"/>
              </a:defRPr>
            </a:pPr>
            <a:r>
              <a:t>Conclusion &amp; Academic Key Learnings</a:t>
            </a:r>
          </a:p>
        </p:txBody>
      </p:sp>
      <p:sp>
        <p:nvSpPr>
          <p:cNvPr id="4" name="Rectangle 3"/>
          <p:cNvSpPr/>
          <p:nvPr/>
        </p:nvSpPr>
        <p:spPr>
          <a:xfrm>
            <a:off x="731520" y="640080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8229600" cy="320040"/>
          </a:xfrm>
          <a:prstGeom prst="rect">
            <a:avLst/>
          </a:prstGeom>
          <a:noFill/>
        </p:spPr>
        <p:txBody>
          <a:bodyPr wrap="square" lIns="0" tIns="0" rIns="0" bIns="0">
            <a:spAutoFit/>
          </a:bodyPr>
          <a:lstStyle/>
          <a:p>
            <a:pPr>
              <a:defRPr sz="950">
                <a:solidFill>
                  <a:srgbClr val="64748B"/>
                </a:solidFill>
                <a:latin typeface="Segoe UI"/>
              </a:defRPr>
            </a:pPr>
            <a:r>
              <a:t>Gudla Shashank (12316224 | Roll 9 | K23DF) • Skill Gap Analyzer &amp; Career Intelligence Platform • LPU</a:t>
            </a:r>
          </a:p>
        </p:txBody>
      </p:sp>
      <p:sp>
        <p:nvSpPr>
          <p:cNvPr id="6" name="TextBox 5"/>
          <p:cNvSpPr txBox="1"/>
          <p:nvPr/>
        </p:nvSpPr>
        <p:spPr>
          <a:xfrm>
            <a:off x="9601200" y="6446520"/>
            <a:ext cx="1858975" cy="320040"/>
          </a:xfrm>
          <a:prstGeom prst="rect">
            <a:avLst/>
          </a:prstGeom>
          <a:noFill/>
        </p:spPr>
        <p:txBody>
          <a:bodyPr wrap="square" lIns="0" tIns="0" rIns="0" bIns="0">
            <a:spAutoFit/>
          </a:bodyPr>
          <a:lstStyle/>
          <a:p>
            <a:pPr algn="r">
              <a:defRPr sz="950" b="1">
                <a:solidFill>
                  <a:srgbClr val="2563EB"/>
                </a:solidFill>
                <a:latin typeface="Segoe UI"/>
              </a:defRPr>
            </a:pPr>
            <a:r>
              <a:t>17 / 18</a:t>
            </a:r>
          </a:p>
        </p:txBody>
      </p:sp>
      <p:sp>
        <p:nvSpPr>
          <p:cNvPr id="7" name="Rounded Rectangle 6"/>
          <p:cNvSpPr/>
          <p:nvPr/>
        </p:nvSpPr>
        <p:spPr>
          <a:xfrm>
            <a:off x="731520" y="1371600"/>
            <a:ext cx="52578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892040" cy="4480560"/>
          </a:xfrm>
          <a:prstGeom prst="rect">
            <a:avLst/>
          </a:prstGeom>
          <a:noFill/>
        </p:spPr>
        <p:txBody>
          <a:bodyPr wrap="square">
            <a:spAutoFit/>
          </a:bodyPr>
          <a:lstStyle/>
          <a:p>
            <a:pPr>
              <a:defRPr b="1" sz="1400">
                <a:solidFill>
                  <a:srgbClr val="2563EB"/>
                </a:solidFill>
              </a:defRPr>
            </a:pPr>
            <a:r>
              <a:t>Summary of Project Outcomes</a:t>
            </a:r>
          </a:p>
          <a:p>
            <a:pPr>
              <a:spcBef>
                <a:spcPts val="600"/>
              </a:spcBef>
            </a:pPr>
            <a:r>
              <a:rPr sz="1000" b="1">
                <a:solidFill>
                  <a:srgbClr val="2563EB"/>
                </a:solidFill>
                <a:latin typeface="Segoe UI"/>
              </a:rPr>
              <a:t>[+] NoSQL Paradigm Validation: </a:t>
            </a:r>
            <a:r>
              <a:rPr sz="950" b="0">
                <a:solidFill>
                  <a:srgbClr val="64748B"/>
                </a:solidFill>
                <a:latin typeface="Segoe UI"/>
              </a:rPr>
              <a:t>Demonstrated that MongoDB's document model is fundamentally superior to relational tables for semi-structured talent data, eliminating junction tables and JOIN overhead.</a:t>
            </a:r>
          </a:p>
          <a:p>
            <a:pPr>
              <a:spcBef>
                <a:spcPts val="600"/>
              </a:spcBef>
            </a:pPr>
            <a:r>
              <a:rPr sz="1000" b="1">
                <a:solidFill>
                  <a:srgbClr val="2563EB"/>
                </a:solidFill>
                <a:latin typeface="Segoe UI"/>
              </a:rPr>
              <a:t>[+] High-Performance Engineering: </a:t>
            </a:r>
            <a:r>
              <a:rPr sz="950" b="0">
                <a:solidFill>
                  <a:srgbClr val="64748B"/>
                </a:solidFill>
                <a:latin typeface="Segoe UI"/>
              </a:rPr>
              <a:t>Constructed multikey B-tree indexes reducing array query evaluation from O(N) collection scans to sub-2ms logarithmic indexed lookups.</a:t>
            </a:r>
          </a:p>
          <a:p>
            <a:pPr>
              <a:spcBef>
                <a:spcPts val="600"/>
              </a:spcBef>
            </a:pPr>
            <a:r>
              <a:rPr sz="1000" b="1">
                <a:solidFill>
                  <a:srgbClr val="2563EB"/>
                </a:solidFill>
                <a:latin typeface="Segoe UI"/>
              </a:rPr>
              <a:t>[+] Multi-Stage Pipeline Mastery: </a:t>
            </a:r>
            <a:r>
              <a:rPr sz="950" b="0">
                <a:solidFill>
                  <a:srgbClr val="64748B"/>
                </a:solidFill>
                <a:latin typeface="Segoe UI"/>
              </a:rPr>
              <a:t>Successfully formulated 5 complex pipelines leveraging $unwind, $group, $lookup, and $bucket to derive live market supply vs. demand metrics.</a:t>
            </a:r>
          </a:p>
          <a:p>
            <a:pPr>
              <a:spcBef>
                <a:spcPts val="600"/>
              </a:spcBef>
            </a:pPr>
            <a:r>
              <a:rPr sz="1000" b="1">
                <a:solidFill>
                  <a:srgbClr val="2563EB"/>
                </a:solidFill>
                <a:latin typeface="Segoe UI"/>
              </a:rPr>
              <a:t>[+] Modern AI &amp; NoSQL Convergence: </a:t>
            </a:r>
            <a:r>
              <a:rPr sz="950" b="0">
                <a:solidFill>
                  <a:srgbClr val="64748B"/>
                </a:solidFill>
                <a:latin typeface="Segoe UI"/>
              </a:rPr>
              <a:t>Pioneered the storage of high-dimensional vector embeddings within MongoDB documents to power a grounded RAG copilot with Google Gemini.</a:t>
            </a:r>
          </a:p>
          <a:p>
            <a:pPr>
              <a:spcBef>
                <a:spcPts val="600"/>
              </a:spcBef>
            </a:pPr>
            <a:r>
              <a:rPr sz="1000" b="1">
                <a:solidFill>
                  <a:srgbClr val="2563EB"/>
                </a:solidFill>
                <a:latin typeface="Segoe UI"/>
              </a:rPr>
              <a:t>[+] Production-Grade Full-Stack Delivery: </a:t>
            </a:r>
            <a:r>
              <a:rPr sz="950" b="0">
                <a:solidFill>
                  <a:srgbClr val="64748B"/>
                </a:solidFill>
                <a:latin typeface="Segoe UI"/>
              </a:rPr>
              <a:t>Built an end-to-end interactive Streamlit web system featuring live telemetry, query inspection, and automated PDF reporting.</a:t>
            </a:r>
          </a:p>
        </p:txBody>
      </p:sp>
      <p:sp>
        <p:nvSpPr>
          <p:cNvPr id="9" name="Rounded Rectangle 8"/>
          <p:cNvSpPr/>
          <p:nvPr/>
        </p:nvSpPr>
        <p:spPr>
          <a:xfrm>
            <a:off x="6217920" y="1371600"/>
            <a:ext cx="52578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92040" cy="4480560"/>
          </a:xfrm>
          <a:prstGeom prst="rect">
            <a:avLst/>
          </a:prstGeom>
          <a:noFill/>
        </p:spPr>
        <p:txBody>
          <a:bodyPr wrap="square">
            <a:spAutoFit/>
          </a:bodyPr>
          <a:lstStyle/>
          <a:p>
            <a:pPr>
              <a:defRPr b="1" sz="1400">
                <a:solidFill>
                  <a:srgbClr val="0D9488"/>
                </a:solidFill>
              </a:defRPr>
            </a:pPr>
            <a:r>
              <a:t>CSE494 Course Alignment &amp; Competencies</a:t>
            </a:r>
          </a:p>
          <a:p>
            <a:pPr>
              <a:spcBef>
                <a:spcPts val="600"/>
              </a:spcBef>
            </a:pPr>
            <a:r>
              <a:rPr sz="1000" b="1">
                <a:solidFill>
                  <a:srgbClr val="0D9488"/>
                </a:solidFill>
                <a:latin typeface="Segoe UI"/>
              </a:rPr>
              <a:t>[*] Document Schema Architecture: </a:t>
            </a:r>
            <a:r>
              <a:rPr sz="950" b="0">
                <a:solidFill>
                  <a:srgbClr val="64748B"/>
                </a:solidFill>
                <a:latin typeface="Segoe UI"/>
              </a:rPr>
              <a:t>Mastered BSON modeling, embedding vs. referencing design decisions, and document validation rules.</a:t>
            </a:r>
          </a:p>
          <a:p>
            <a:pPr>
              <a:spcBef>
                <a:spcPts val="600"/>
              </a:spcBef>
            </a:pPr>
            <a:r>
              <a:rPr sz="1000" b="1">
                <a:solidFill>
                  <a:srgbClr val="0D9488"/>
                </a:solidFill>
                <a:latin typeface="Segoe UI"/>
              </a:rPr>
              <a:t>[*] Atomic Operators: </a:t>
            </a:r>
            <a:r>
              <a:rPr sz="950" b="0">
                <a:solidFill>
                  <a:srgbClr val="64748B"/>
                </a:solidFill>
                <a:latin typeface="Segoe UI"/>
              </a:rPr>
              <a:t>Mastered in-place array modification using $addToSet, $push, and $pull without race conditions.</a:t>
            </a:r>
          </a:p>
          <a:p>
            <a:pPr>
              <a:spcBef>
                <a:spcPts val="600"/>
              </a:spcBef>
            </a:pPr>
            <a:r>
              <a:rPr sz="1000" b="1">
                <a:solidFill>
                  <a:srgbClr val="0D9488"/>
                </a:solidFill>
                <a:latin typeface="Segoe UI"/>
              </a:rPr>
              <a:t>[*] Aggregation Framework: </a:t>
            </a:r>
            <a:r>
              <a:rPr sz="950" b="0">
                <a:solidFill>
                  <a:srgbClr val="64748B"/>
                </a:solidFill>
                <a:latin typeface="Segoe UI"/>
              </a:rPr>
              <a:t>Formulated multi-stage pipelines incorporating foreign collection joins ($lookup) and numerical categorization ($bucket).</a:t>
            </a:r>
          </a:p>
          <a:p>
            <a:pPr>
              <a:spcBef>
                <a:spcPts val="600"/>
              </a:spcBef>
            </a:pPr>
            <a:r>
              <a:rPr sz="1000" b="1">
                <a:solidFill>
                  <a:srgbClr val="0D9488"/>
                </a:solidFill>
                <a:latin typeface="Segoe UI"/>
              </a:rPr>
              <a:t>[*] Query Optimization &amp; Profiling: </a:t>
            </a:r>
            <a:r>
              <a:rPr sz="950" b="0">
                <a:solidFill>
                  <a:srgbClr val="64748B"/>
                </a:solidFill>
                <a:latin typeface="Segoe UI"/>
              </a:rPr>
              <a:t>Evaluated execution plans using explain('executionStats') to verify IXSCAN stages and optimize memory.</a:t>
            </a:r>
          </a:p>
          <a:p>
            <a:pPr>
              <a:spcBef>
                <a:spcPts val="600"/>
              </a:spcBef>
            </a:pPr>
            <a:r>
              <a:rPr sz="1000" b="1">
                <a:solidFill>
                  <a:srgbClr val="0D9488"/>
                </a:solidFill>
                <a:latin typeface="Segoe UI"/>
              </a:rPr>
              <a:t>[*] Driver &amp; Production Integration: </a:t>
            </a:r>
            <a:r>
              <a:rPr sz="950" b="0">
                <a:solidFill>
                  <a:srgbClr val="64748B"/>
                </a:solidFill>
                <a:latin typeface="Segoe UI"/>
              </a:rPr>
              <a:t>Engineered connection pooling, RFC 3986 URI sanitization, and graceful degradation in Python via PyMongo.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728655" cy="1097280"/>
          </a:xfrm>
          <a:prstGeom prst="rect">
            <a:avLst/>
          </a:prstGeom>
          <a:noFill/>
        </p:spPr>
        <p:txBody>
          <a:bodyPr wrap="none">
            <a:spAutoFit/>
          </a:bodyPr>
          <a:lstStyle/>
          <a:p>
            <a:pPr>
              <a:defRPr sz="2800" b="1">
                <a:solidFill>
                  <a:srgbClr val="FFFFFF"/>
                </a:solidFill>
                <a:latin typeface="Segoe UI"/>
              </a:defRPr>
            </a:pPr>
            <a:r>
              <a:t>Thank You! Questions &amp; Viva Discussion</a:t>
            </a:r>
          </a:p>
          <a:p>
            <a:pPr>
              <a:defRPr sz="1400">
                <a:solidFill>
                  <a:srgbClr val="38BDF8"/>
                </a:solidFill>
                <a:latin typeface="Segoe UI"/>
              </a:defRPr>
            </a:pPr>
            <a:r>
              <a:t>Open for questions, practical demonstrations, and technical viva evaluation.</a:t>
            </a:r>
          </a:p>
        </p:txBody>
      </p:sp>
      <p:sp>
        <p:nvSpPr>
          <p:cNvPr id="5" name="Rounded Rectangle 4"/>
          <p:cNvSpPr/>
          <p:nvPr/>
        </p:nvSpPr>
        <p:spPr>
          <a:xfrm>
            <a:off x="731520" y="2011680"/>
            <a:ext cx="5257800" cy="1920240"/>
          </a:xfrm>
          <a:prstGeom prst="roundRect">
            <a:avLst/>
          </a:prstGeom>
          <a:solidFill>
            <a:srgbClr val="1E293B"/>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03120"/>
            <a:ext cx="4983480" cy="365760"/>
          </a:xfrm>
          <a:prstGeom prst="rect">
            <a:avLst/>
          </a:prstGeom>
          <a:noFill/>
        </p:spPr>
        <p:txBody>
          <a:bodyPr wrap="none">
            <a:spAutoFit/>
          </a:bodyPr>
          <a:lstStyle/>
          <a:p>
            <a:pPr>
              <a:defRPr b="1" sz="1100">
                <a:solidFill>
                  <a:srgbClr val="2563EB"/>
                </a:solidFill>
              </a:defRPr>
            </a:pPr>
            <a:r>
              <a:t>Q: Why $addToSet over $push?</a:t>
            </a:r>
          </a:p>
        </p:txBody>
      </p:sp>
      <p:sp>
        <p:nvSpPr>
          <p:cNvPr id="7" name="TextBox 6"/>
          <p:cNvSpPr txBox="1"/>
          <p:nvPr/>
        </p:nvSpPr>
        <p:spPr>
          <a:xfrm>
            <a:off x="868680" y="2423160"/>
            <a:ext cx="4983480" cy="1371600"/>
          </a:xfrm>
          <a:prstGeom prst="rect">
            <a:avLst/>
          </a:prstGeom>
          <a:noFill/>
        </p:spPr>
        <p:txBody>
          <a:bodyPr wrap="square">
            <a:spAutoFit/>
          </a:bodyPr>
          <a:lstStyle/>
          <a:p>
            <a:pPr>
              <a:spcBef>
                <a:spcPts val="200"/>
              </a:spcBef>
              <a:defRPr sz="950">
                <a:solidFill>
                  <a:srgbClr val="FFFFFF"/>
                </a:solidFill>
              </a:defRPr>
            </a:pPr>
            <a:r>
              <a:t>• $addToSet guarantees set uniqueness.</a:t>
            </a:r>
          </a:p>
          <a:p>
            <a:pPr>
              <a:spcBef>
                <a:spcPts val="200"/>
              </a:spcBef>
              <a:defRPr sz="950">
                <a:solidFill>
                  <a:srgbClr val="FFFFFF"/>
                </a:solidFill>
              </a:defRPr>
            </a:pPr>
            <a:r>
              <a:t>• Adding a pre-existing skill returns modified_count: 0.</a:t>
            </a:r>
          </a:p>
          <a:p>
            <a:pPr>
              <a:spcBef>
                <a:spcPts val="200"/>
              </a:spcBef>
              <a:defRPr sz="950">
                <a:solidFill>
                  <a:srgbClr val="FFFFFF"/>
                </a:solidFill>
              </a:defRPr>
            </a:pPr>
            <a:r>
              <a:t>• Prevents duplicate strings in array without Python loops.</a:t>
            </a:r>
          </a:p>
        </p:txBody>
      </p:sp>
      <p:sp>
        <p:nvSpPr>
          <p:cNvPr id="8" name="Rounded Rectangle 7"/>
          <p:cNvSpPr/>
          <p:nvPr/>
        </p:nvSpPr>
        <p:spPr>
          <a:xfrm>
            <a:off x="6172200" y="2011680"/>
            <a:ext cx="5257800" cy="1920240"/>
          </a:xfrm>
          <a:prstGeom prst="roundRect">
            <a:avLst/>
          </a:prstGeom>
          <a:solidFill>
            <a:srgbClr val="1E293B"/>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2103120"/>
            <a:ext cx="4983480" cy="365760"/>
          </a:xfrm>
          <a:prstGeom prst="rect">
            <a:avLst/>
          </a:prstGeom>
          <a:noFill/>
        </p:spPr>
        <p:txBody>
          <a:bodyPr wrap="none">
            <a:spAutoFit/>
          </a:bodyPr>
          <a:lstStyle/>
          <a:p>
            <a:pPr>
              <a:defRPr b="1" sz="1100">
                <a:solidFill>
                  <a:srgbClr val="0D9488"/>
                </a:solidFill>
              </a:defRPr>
            </a:pPr>
            <a:r>
              <a:t>Q: How does $lookup work?</a:t>
            </a:r>
          </a:p>
        </p:txBody>
      </p:sp>
      <p:sp>
        <p:nvSpPr>
          <p:cNvPr id="10" name="TextBox 9"/>
          <p:cNvSpPr txBox="1"/>
          <p:nvPr/>
        </p:nvSpPr>
        <p:spPr>
          <a:xfrm>
            <a:off x="6309360" y="2423160"/>
            <a:ext cx="4983480" cy="1371600"/>
          </a:xfrm>
          <a:prstGeom prst="rect">
            <a:avLst/>
          </a:prstGeom>
          <a:noFill/>
        </p:spPr>
        <p:txBody>
          <a:bodyPr wrap="square">
            <a:spAutoFit/>
          </a:bodyPr>
          <a:lstStyle/>
          <a:p>
            <a:pPr>
              <a:spcBef>
                <a:spcPts val="200"/>
              </a:spcBef>
              <a:defRPr sz="950">
                <a:solidFill>
                  <a:srgbClr val="FFFFFF"/>
                </a:solidFill>
              </a:defRPr>
            </a:pPr>
            <a:r>
              <a:t>• Performs Left Outer Equality Join.</a:t>
            </a:r>
          </a:p>
          <a:p>
            <a:pPr>
              <a:spcBef>
                <a:spcPts val="200"/>
              </a:spcBef>
              <a:defRPr sz="950">
                <a:solidFill>
                  <a:srgbClr val="FFFFFF"/>
                </a:solidFill>
              </a:defRPr>
            </a:pPr>
            <a:r>
              <a:t>• Correlates analyses.job_id with jobs.job_id.</a:t>
            </a:r>
          </a:p>
          <a:p>
            <a:pPr>
              <a:spcBef>
                <a:spcPts val="200"/>
              </a:spcBef>
              <a:defRPr sz="950">
                <a:solidFill>
                  <a:srgbClr val="FFFFFF"/>
                </a:solidFill>
              </a:defRPr>
            </a:pPr>
            <a:r>
              <a:t>• Followed by $unwind and $group for role-level aggregates.</a:t>
            </a:r>
          </a:p>
        </p:txBody>
      </p:sp>
      <p:sp>
        <p:nvSpPr>
          <p:cNvPr id="11" name="Rounded Rectangle 10"/>
          <p:cNvSpPr/>
          <p:nvPr/>
        </p:nvSpPr>
        <p:spPr>
          <a:xfrm>
            <a:off x="731520" y="4114800"/>
            <a:ext cx="5257800" cy="1920240"/>
          </a:xfrm>
          <a:prstGeom prst="roundRect">
            <a:avLst/>
          </a:prstGeom>
          <a:solidFill>
            <a:srgbClr val="1E293B"/>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206240"/>
            <a:ext cx="4983480" cy="365760"/>
          </a:xfrm>
          <a:prstGeom prst="rect">
            <a:avLst/>
          </a:prstGeom>
          <a:noFill/>
        </p:spPr>
        <p:txBody>
          <a:bodyPr wrap="none">
            <a:spAutoFit/>
          </a:bodyPr>
          <a:lstStyle/>
          <a:p>
            <a:pPr>
              <a:defRPr b="1" sz="1100">
                <a:solidFill>
                  <a:srgbClr val="EA580C"/>
                </a:solidFill>
              </a:defRPr>
            </a:pPr>
            <a:r>
              <a:t>Q: What is a Multikey Index?</a:t>
            </a:r>
          </a:p>
        </p:txBody>
      </p:sp>
      <p:sp>
        <p:nvSpPr>
          <p:cNvPr id="13" name="TextBox 12"/>
          <p:cNvSpPr txBox="1"/>
          <p:nvPr/>
        </p:nvSpPr>
        <p:spPr>
          <a:xfrm>
            <a:off x="868680" y="4526280"/>
            <a:ext cx="4983480" cy="1371600"/>
          </a:xfrm>
          <a:prstGeom prst="rect">
            <a:avLst/>
          </a:prstGeom>
          <a:noFill/>
        </p:spPr>
        <p:txBody>
          <a:bodyPr wrap="square">
            <a:spAutoFit/>
          </a:bodyPr>
          <a:lstStyle/>
          <a:p>
            <a:pPr>
              <a:spcBef>
                <a:spcPts val="200"/>
              </a:spcBef>
              <a:defRPr sz="950">
                <a:solidFill>
                  <a:srgbClr val="FFFFFF"/>
                </a:solidFill>
              </a:defRPr>
            </a:pPr>
            <a:r>
              <a:t>• Indexes each element in an array field.</a:t>
            </a:r>
          </a:p>
          <a:p>
            <a:pPr>
              <a:spcBef>
                <a:spcPts val="200"/>
              </a:spcBef>
              <a:defRPr sz="950">
                <a:solidFill>
                  <a:srgbClr val="FFFFFF"/>
                </a:solidFill>
              </a:defRPr>
            </a:pPr>
            <a:r>
              <a:t>• Applied to resumes.skills and jobs.required_skills.</a:t>
            </a:r>
          </a:p>
          <a:p>
            <a:pPr>
              <a:spcBef>
                <a:spcPts val="200"/>
              </a:spcBef>
              <a:defRPr sz="950">
                <a:solidFill>
                  <a:srgbClr val="FFFFFF"/>
                </a:solidFill>
              </a:defRPr>
            </a:pPr>
            <a:r>
              <a:t>• Converts array checks from COLLSCAN to logarithmic IXSCAN.</a:t>
            </a:r>
          </a:p>
        </p:txBody>
      </p:sp>
      <p:sp>
        <p:nvSpPr>
          <p:cNvPr id="14" name="Rounded Rectangle 13"/>
          <p:cNvSpPr/>
          <p:nvPr/>
        </p:nvSpPr>
        <p:spPr>
          <a:xfrm>
            <a:off x="6172200" y="4114800"/>
            <a:ext cx="5257800" cy="1920240"/>
          </a:xfrm>
          <a:prstGeom prst="roundRect">
            <a:avLst/>
          </a:prstGeom>
          <a:solidFill>
            <a:srgbClr val="1E293B"/>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4206240"/>
            <a:ext cx="4983480" cy="365760"/>
          </a:xfrm>
          <a:prstGeom prst="rect">
            <a:avLst/>
          </a:prstGeom>
          <a:noFill/>
        </p:spPr>
        <p:txBody>
          <a:bodyPr wrap="none">
            <a:spAutoFit/>
          </a:bodyPr>
          <a:lstStyle/>
          <a:p>
            <a:pPr>
              <a:defRPr b="1" sz="1100">
                <a:solidFill>
                  <a:srgbClr val="9333EA"/>
                </a:solidFill>
              </a:defRPr>
            </a:pPr>
            <a:r>
              <a:t>Q: How does RAG use MongoDB?</a:t>
            </a:r>
          </a:p>
        </p:txBody>
      </p:sp>
      <p:sp>
        <p:nvSpPr>
          <p:cNvPr id="16" name="TextBox 15"/>
          <p:cNvSpPr txBox="1"/>
          <p:nvPr/>
        </p:nvSpPr>
        <p:spPr>
          <a:xfrm>
            <a:off x="6309360" y="4526280"/>
            <a:ext cx="4983480" cy="1371600"/>
          </a:xfrm>
          <a:prstGeom prst="rect">
            <a:avLst/>
          </a:prstGeom>
          <a:noFill/>
        </p:spPr>
        <p:txBody>
          <a:bodyPr wrap="square">
            <a:spAutoFit/>
          </a:bodyPr>
          <a:lstStyle/>
          <a:p>
            <a:pPr>
              <a:spcBef>
                <a:spcPts val="200"/>
              </a:spcBef>
              <a:defRPr sz="950">
                <a:solidFill>
                  <a:srgbClr val="FFFFFF"/>
                </a:solidFill>
              </a:defRPr>
            </a:pPr>
            <a:r>
              <a:t>• knowledge_vectors stores dense 128-float arrays.</a:t>
            </a:r>
          </a:p>
          <a:p>
            <a:pPr>
              <a:spcBef>
                <a:spcPts val="200"/>
              </a:spcBef>
              <a:defRPr sz="950">
                <a:solidFill>
                  <a:srgbClr val="FFFFFF"/>
                </a:solidFill>
              </a:defRPr>
            </a:pPr>
            <a:r>
              <a:t>• Cosine similarity matches candidate gaps to curriculum.</a:t>
            </a:r>
          </a:p>
          <a:p>
            <a:pPr>
              <a:spcBef>
                <a:spcPts val="200"/>
              </a:spcBef>
              <a:defRPr sz="950">
                <a:solidFill>
                  <a:srgbClr val="FFFFFF"/>
                </a:solidFill>
              </a:defRPr>
            </a:pPr>
            <a:r>
              <a:t>• Injected into Gemini prompt for zero-hallucination blueprints.</a:t>
            </a:r>
          </a:p>
        </p:txBody>
      </p:sp>
      <p:sp>
        <p:nvSpPr>
          <p:cNvPr id="17" name="TextBox 16"/>
          <p:cNvSpPr txBox="1"/>
          <p:nvPr/>
        </p:nvSpPr>
        <p:spPr>
          <a:xfrm>
            <a:off x="731520" y="6217920"/>
            <a:ext cx="10728655" cy="457200"/>
          </a:xfrm>
          <a:prstGeom prst="rect">
            <a:avLst/>
          </a:prstGeom>
          <a:noFill/>
        </p:spPr>
        <p:txBody>
          <a:bodyPr wrap="none">
            <a:spAutoFit/>
          </a:bodyPr>
          <a:lstStyle/>
          <a:p>
            <a:pPr algn="ctr">
              <a:defRPr sz="1000" b="1">
                <a:solidFill>
                  <a:srgbClr val="94A3B8"/>
                </a:solidFill>
                <a:latin typeface="Segoe UI"/>
              </a:defRPr>
            </a:pPr>
            <a:r>
              <a:t>Gudla Shashank • Reg. No: 12316224 • Roll No: 9 • Section: K23DF • Supervisor: Shaik Sana Begum • LPU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